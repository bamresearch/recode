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0" r:id="rId3"/>
    <p:sldId id="257" r:id="rId4"/>
    <p:sldId id="258" r:id="rId5"/>
    <p:sldId id="261" r:id="rId6"/>
    <p:sldId id="263" r:id="rId7"/>
    <p:sldId id="265" r:id="rId8"/>
    <p:sldId id="266" r:id="rId9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838">
          <p15:clr>
            <a:srgbClr val="A4A3A4"/>
          </p15:clr>
        </p15:guide>
        <p15:guide id="3" orient="horz">
          <p15:clr>
            <a:srgbClr val="A4A3A4"/>
          </p15:clr>
        </p15:guide>
        <p15:guide id="4" orient="horz" pos="2994">
          <p15:clr>
            <a:srgbClr val="A4A3A4"/>
          </p15:clr>
        </p15:guide>
        <p15:guide id="5" orient="horz" pos="814">
          <p15:clr>
            <a:srgbClr val="A4A3A4"/>
          </p15:clr>
        </p15:guide>
        <p15:guide id="6" orient="horz" pos="2854">
          <p15:clr>
            <a:srgbClr val="A4A3A4"/>
          </p15:clr>
        </p15:guide>
        <p15:guide id="7" pos="340">
          <p15:clr>
            <a:srgbClr val="A4A3A4"/>
          </p15:clr>
        </p15:guide>
        <p15:guide id="8" pos="5420">
          <p15:clr>
            <a:srgbClr val="A4A3A4"/>
          </p15:clr>
        </p15:guide>
        <p15:guide id="9" pos="2947">
          <p15:clr>
            <a:srgbClr val="A4A3A4"/>
          </p15:clr>
        </p15:guide>
        <p15:guide id="10" pos="2813">
          <p15:clr>
            <a:srgbClr val="A4A3A4"/>
          </p15:clr>
        </p15:guide>
        <p15:guide id="11" pos="1943">
          <p15:clr>
            <a:srgbClr val="A4A3A4"/>
          </p15:clr>
        </p15:guide>
        <p15:guide id="12" pos="3817">
          <p15:clr>
            <a:srgbClr val="A4A3A4"/>
          </p15:clr>
        </p15:guide>
        <p15:guide id="13" pos="2080">
          <p15:clr>
            <a:srgbClr val="A4A3A4"/>
          </p15:clr>
        </p15:guide>
        <p15:guide id="14" pos="36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9"/>
  </p:normalViewPr>
  <p:slideViewPr>
    <p:cSldViewPr snapToGrid="0" snapToObjects="1" showGuides="1">
      <p:cViewPr varScale="1">
        <p:scale>
          <a:sx n="99" d="100"/>
          <a:sy n="99" d="100"/>
        </p:scale>
        <p:origin x="221" y="72"/>
      </p:cViewPr>
      <p:guideLst>
        <p:guide orient="horz" pos="1620"/>
        <p:guide orient="horz" pos="838"/>
        <p:guide orient="horz"/>
        <p:guide orient="horz" pos="2994"/>
        <p:guide orient="horz" pos="814"/>
        <p:guide orient="horz" pos="2854"/>
        <p:guide pos="340"/>
        <p:guide pos="5420"/>
        <p:guide pos="2947"/>
        <p:guide pos="2813"/>
        <p:guide pos="1943"/>
        <p:guide pos="3817"/>
        <p:guide pos="2080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C5BC77-E589-FC43-842C-314DEB76EF88}" type="datetimeFigureOut">
              <a:rPr lang="de-DE" smtClean="0"/>
              <a:t>20.03.2026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BCADE-75F8-C143-8D6A-11EFEA56B0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94934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1DCD43-2D46-4F8F-A5DD-26B42E953E0E}" type="datetimeFigureOut">
              <a:rPr lang="de-DE" smtClean="0"/>
              <a:t>20.03.2026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D62D0-23E2-4DD5-9BB6-D6C7194C92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5478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2334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" y="901519"/>
            <a:ext cx="1614683" cy="356961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88000"/>
            <a:ext cx="9143998" cy="3563111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40000" y="1965601"/>
            <a:ext cx="7200000" cy="750166"/>
          </a:xfrm>
        </p:spPr>
        <p:txBody>
          <a:bodyPr/>
          <a:lstStyle>
            <a:lvl1pPr>
              <a:lnSpc>
                <a:spcPts val="3000"/>
              </a:lnSpc>
              <a:defRPr sz="2400" b="1" cap="all" baseline="0"/>
            </a:lvl1pPr>
          </a:lstStyle>
          <a:p>
            <a:r>
              <a:rPr lang="de-DE" dirty="0"/>
              <a:t>TITEL DER PRÄSENTATION</a:t>
            </a:r>
            <a:br>
              <a:rPr lang="de-DE" dirty="0"/>
            </a:br>
            <a:r>
              <a:rPr lang="de-DE" dirty="0"/>
              <a:t>SCHRIFT VERDANA BOLD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40000" y="2728800"/>
            <a:ext cx="7200000" cy="1643150"/>
          </a:xfrm>
        </p:spPr>
        <p:txBody>
          <a:bodyPr/>
          <a:lstStyle>
            <a:lvl1pPr marL="0" indent="0" algn="l">
              <a:lnSpc>
                <a:spcPts val="3000"/>
              </a:lnSpc>
              <a:spcBef>
                <a:spcPts val="0"/>
              </a:spcBef>
              <a:buNone/>
              <a:defRPr sz="2400" b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Untertitel (optional), Name des Redners</a:t>
            </a:r>
          </a:p>
          <a:p>
            <a:r>
              <a:rPr lang="de-DE" dirty="0" err="1"/>
              <a:t>Veranstatungstitel</a:t>
            </a:r>
            <a:endParaRPr lang="de-DE" dirty="0"/>
          </a:p>
          <a:p>
            <a:r>
              <a:rPr lang="de-DE" dirty="0" err="1"/>
              <a:t>Verdana</a:t>
            </a:r>
            <a:r>
              <a:rPr lang="de-DE" dirty="0"/>
              <a:t> Regular 24 </a:t>
            </a:r>
            <a:r>
              <a:rPr lang="de-DE" dirty="0" err="1"/>
              <a:t>pt</a:t>
            </a:r>
            <a:r>
              <a:rPr lang="de-DE" dirty="0"/>
              <a:t>, ZAB 30 </a:t>
            </a:r>
            <a:r>
              <a:rPr lang="de-DE" dirty="0" err="1"/>
              <a:t>pt</a:t>
            </a:r>
            <a:endParaRPr lang="de-DE" dirty="0"/>
          </a:p>
          <a:p>
            <a:r>
              <a:rPr lang="de-DE" dirty="0"/>
              <a:t>Maximal vier Zeilen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80000"/>
            <a:ext cx="1255743" cy="900000"/>
          </a:xfrm>
          <a:prstGeom prst="rect">
            <a:avLst/>
          </a:prstGeom>
        </p:spPr>
      </p:pic>
      <p:cxnSp>
        <p:nvCxnSpPr>
          <p:cNvPr id="11" name="Gerade Verbindung 10"/>
          <p:cNvCxnSpPr/>
          <p:nvPr userDrawn="1"/>
        </p:nvCxnSpPr>
        <p:spPr>
          <a:xfrm>
            <a:off x="539750" y="1771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540000" y="4435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281600"/>
            <a:ext cx="1440000" cy="2872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Datum</a:t>
            </a:r>
          </a:p>
        </p:txBody>
      </p:sp>
      <p:sp>
        <p:nvSpPr>
          <p:cNvPr id="13" name="Textfeld 12"/>
          <p:cNvSpPr txBox="1"/>
          <p:nvPr userDrawn="1"/>
        </p:nvSpPr>
        <p:spPr>
          <a:xfrm>
            <a:off x="7681546" y="4201290"/>
            <a:ext cx="10126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de-DE" sz="1200" dirty="0" err="1">
                <a:solidFill>
                  <a:schemeClr val="bg1"/>
                </a:solidFill>
              </a:rPr>
              <a:t>www.bam.de</a:t>
            </a:r>
            <a:endParaRPr lang="de-DE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622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Titelfolie (ausführlic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" y="901519"/>
            <a:ext cx="1614683" cy="356961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88000"/>
            <a:ext cx="9143998" cy="3563111"/>
          </a:xfrm>
          <a:prstGeom prst="rect">
            <a:avLst/>
          </a:prstGeom>
        </p:spPr>
      </p:pic>
      <p:cxnSp>
        <p:nvCxnSpPr>
          <p:cNvPr id="13" name="Gerade Verbindung 12"/>
          <p:cNvCxnSpPr/>
          <p:nvPr userDrawn="1"/>
        </p:nvCxnSpPr>
        <p:spPr>
          <a:xfrm>
            <a:off x="540000" y="4435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539750" y="1771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40000" y="1965600"/>
            <a:ext cx="8064000" cy="748800"/>
          </a:xfrm>
        </p:spPr>
        <p:txBody>
          <a:bodyPr/>
          <a:lstStyle>
            <a:lvl1pPr>
              <a:lnSpc>
                <a:spcPts val="3000"/>
              </a:lnSpc>
              <a:defRPr sz="2400" b="1" cap="all" baseline="0"/>
            </a:lvl1pPr>
          </a:lstStyle>
          <a:p>
            <a:r>
              <a:rPr lang="de-DE" dirty="0"/>
              <a:t>TITEL DER PRÄSENTATION (AUSFÜHRLICH)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40000" y="2340000"/>
            <a:ext cx="8064000" cy="748800"/>
          </a:xfrm>
        </p:spPr>
        <p:txBody>
          <a:bodyPr/>
          <a:lstStyle>
            <a:lvl1pPr marL="0" indent="0" algn="l">
              <a:lnSpc>
                <a:spcPts val="3000"/>
              </a:lnSpc>
              <a:spcBef>
                <a:spcPts val="0"/>
              </a:spcBef>
              <a:buNone/>
              <a:defRPr sz="2400" b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Untertitel </a:t>
            </a:r>
            <a:r>
              <a:rPr lang="de-DE" dirty="0" err="1"/>
              <a:t>Verdana</a:t>
            </a:r>
            <a:r>
              <a:rPr lang="de-DE" dirty="0"/>
              <a:t> Regular, 24 </a:t>
            </a:r>
            <a:r>
              <a:rPr lang="de-DE" dirty="0" err="1"/>
              <a:t>pt</a:t>
            </a:r>
            <a:r>
              <a:rPr lang="de-DE" dirty="0"/>
              <a:t> ZAB 30 </a:t>
            </a:r>
            <a:r>
              <a:rPr lang="de-DE" dirty="0" err="1"/>
              <a:t>pt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80000"/>
            <a:ext cx="1255743" cy="900000"/>
          </a:xfrm>
          <a:prstGeom prst="rect">
            <a:avLst/>
          </a:prstGeom>
        </p:spPr>
      </p:pic>
      <p:sp>
        <p:nvSpPr>
          <p:cNvPr id="15" name="Textplatzhalt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3042000"/>
            <a:ext cx="8064000" cy="75388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Auflistung der Beteiligten Personen </a:t>
            </a:r>
            <a:r>
              <a:rPr lang="de-DE" dirty="0" err="1"/>
              <a:t>Verdana</a:t>
            </a:r>
            <a:r>
              <a:rPr lang="de-DE" dirty="0"/>
              <a:t> Regular 16 </a:t>
            </a:r>
            <a:r>
              <a:rPr lang="de-DE" dirty="0" err="1"/>
              <a:t>pt</a:t>
            </a:r>
            <a:r>
              <a:rPr lang="de-DE" dirty="0"/>
              <a:t>, ZAB 21 </a:t>
            </a:r>
            <a:r>
              <a:rPr lang="de-DE" dirty="0" err="1"/>
              <a:t>pt</a:t>
            </a:r>
            <a:endParaRPr lang="de-DE" dirty="0"/>
          </a:p>
          <a:p>
            <a:pPr lvl="0"/>
            <a:endParaRPr lang="de-DE" dirty="0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3579862"/>
            <a:ext cx="6264498" cy="720080"/>
          </a:xfrm>
        </p:spPr>
        <p:txBody>
          <a:bodyPr anchor="b" anchorCtr="0"/>
          <a:lstStyle>
            <a:lvl1pPr>
              <a:lnSpc>
                <a:spcPts val="1500"/>
              </a:lnSpc>
              <a:spcBef>
                <a:spcPts val="0"/>
              </a:spcBef>
              <a:defRPr sz="1200" baseline="0"/>
            </a:lvl1pPr>
            <a:lvl2pPr>
              <a:lnSpc>
                <a:spcPts val="1500"/>
              </a:lnSpc>
              <a:spcBef>
                <a:spcPts val="0"/>
              </a:spcBef>
              <a:defRPr sz="1200"/>
            </a:lvl2pPr>
            <a:lvl3pPr>
              <a:lnSpc>
                <a:spcPts val="1500"/>
              </a:lnSpc>
              <a:spcBef>
                <a:spcPts val="0"/>
              </a:spcBef>
              <a:defRPr sz="1200"/>
            </a:lvl3pPr>
            <a:lvl4pPr>
              <a:lnSpc>
                <a:spcPts val="1500"/>
              </a:lnSpc>
              <a:spcBef>
                <a:spcPts val="0"/>
              </a:spcBef>
              <a:defRPr sz="1200"/>
            </a:lvl4pPr>
            <a:lvl5pPr>
              <a:lnSpc>
                <a:spcPts val="15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de-DE" dirty="0"/>
              <a:t>Auflistung der beteiligten Einrichtungen </a:t>
            </a:r>
            <a:r>
              <a:rPr lang="de-DE" dirty="0" err="1"/>
              <a:t>Verdana</a:t>
            </a:r>
            <a:r>
              <a:rPr lang="de-DE" dirty="0"/>
              <a:t> Regular 12 </a:t>
            </a:r>
            <a:r>
              <a:rPr lang="de-DE" dirty="0" err="1"/>
              <a:t>pt</a:t>
            </a:r>
            <a:r>
              <a:rPr lang="de-DE" dirty="0"/>
              <a:t>, ZAB 15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18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281600"/>
            <a:ext cx="1440000" cy="2872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Datum</a:t>
            </a:r>
          </a:p>
        </p:txBody>
      </p:sp>
      <p:sp>
        <p:nvSpPr>
          <p:cNvPr id="14" name="Textfeld 13"/>
          <p:cNvSpPr txBox="1"/>
          <p:nvPr userDrawn="1"/>
        </p:nvSpPr>
        <p:spPr>
          <a:xfrm>
            <a:off x="7681546" y="4201290"/>
            <a:ext cx="10126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de-DE" sz="1200" dirty="0" err="1">
                <a:solidFill>
                  <a:schemeClr val="bg1"/>
                </a:solidFill>
              </a:rPr>
              <a:t>www.bam.de</a:t>
            </a:r>
            <a:endParaRPr lang="de-DE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18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Gliederung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151999"/>
            <a:ext cx="6822000" cy="3546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tabLst>
                <a:tab pos="6794500" algn="r"/>
              </a:tabLst>
              <a:defRPr/>
            </a:lvl1pPr>
          </a:lstStyle>
          <a:p>
            <a:pPr lvl="0"/>
            <a:r>
              <a:rPr lang="de-DE" dirty="0"/>
              <a:t>Seitenbeschreibung	5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05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 userDrawn="1"/>
        </p:nvSpPr>
        <p:spPr>
          <a:xfrm>
            <a:off x="539750" y="1080000"/>
            <a:ext cx="8064500" cy="3672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8000"/>
            <a:ext cx="9144000" cy="3563111"/>
          </a:xfrm>
          <a:prstGeom prst="rect">
            <a:avLst/>
          </a:prstGeom>
        </p:spPr>
      </p:pic>
      <p:cxnSp>
        <p:nvCxnSpPr>
          <p:cNvPr id="10" name="Gerade Verbindung 9"/>
          <p:cNvCxnSpPr/>
          <p:nvPr userDrawn="1"/>
        </p:nvCxnSpPr>
        <p:spPr>
          <a:xfrm>
            <a:off x="539750" y="1483168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40000" y="4435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1677600"/>
            <a:ext cx="6822250" cy="748800"/>
          </a:xfrm>
        </p:spPr>
        <p:txBody>
          <a:bodyPr/>
          <a:lstStyle>
            <a:lvl1pPr>
              <a:lnSpc>
                <a:spcPts val="3000"/>
              </a:lnSpc>
              <a:defRPr sz="2400" b="1"/>
            </a:lvl1pPr>
          </a:lstStyle>
          <a:p>
            <a:pPr lvl="0"/>
            <a:r>
              <a:rPr lang="de-DE" dirty="0" err="1"/>
              <a:t>Kapiteltrenner</a:t>
            </a:r>
            <a:endParaRPr lang="de-DE" dirty="0"/>
          </a:p>
          <a:p>
            <a:pPr lvl="0"/>
            <a:r>
              <a:rPr lang="de-DE" dirty="0" err="1"/>
              <a:t>Verdana</a:t>
            </a:r>
            <a:r>
              <a:rPr lang="de-DE" dirty="0"/>
              <a:t> </a:t>
            </a:r>
            <a:r>
              <a:rPr lang="de-DE" dirty="0" err="1"/>
              <a:t>Bold</a:t>
            </a:r>
            <a:r>
              <a:rPr lang="de-DE" dirty="0"/>
              <a:t> 24 PT, ZAB 30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39750" y="2440800"/>
            <a:ext cx="6822250" cy="1641600"/>
          </a:xfrm>
        </p:spPr>
        <p:txBody>
          <a:bodyPr/>
          <a:lstStyle>
            <a:lvl1pPr>
              <a:lnSpc>
                <a:spcPts val="3000"/>
              </a:lnSpc>
              <a:defRPr sz="2400"/>
            </a:lvl1pPr>
          </a:lstStyle>
          <a:p>
            <a:pPr lvl="0"/>
            <a:r>
              <a:rPr lang="de-DE" dirty="0"/>
              <a:t>Untertitel </a:t>
            </a:r>
            <a:r>
              <a:rPr lang="de-DE" dirty="0" err="1"/>
              <a:t>Verdana</a:t>
            </a:r>
            <a:r>
              <a:rPr lang="de-DE" dirty="0"/>
              <a:t> Regular 24 </a:t>
            </a:r>
            <a:r>
              <a:rPr lang="de-DE" dirty="0" err="1"/>
              <a:t>pt</a:t>
            </a:r>
            <a:r>
              <a:rPr lang="de-DE" dirty="0"/>
              <a:t>, ZAB 30 </a:t>
            </a:r>
            <a:r>
              <a:rPr lang="de-DE" dirty="0" err="1"/>
              <a:t>pt</a:t>
            </a:r>
            <a:endParaRPr lang="de-DE" dirty="0"/>
          </a:p>
          <a:p>
            <a:pPr lvl="0"/>
            <a:r>
              <a:rPr lang="de-DE" dirty="0"/>
              <a:t>Maximal vier Zeilen</a:t>
            </a:r>
          </a:p>
          <a:p>
            <a:pPr lvl="0"/>
            <a:r>
              <a:rPr lang="de-DE" dirty="0"/>
              <a:t>Textfarbe BAM Schwarz</a:t>
            </a:r>
          </a:p>
        </p:txBody>
      </p:sp>
      <p:sp>
        <p:nvSpPr>
          <p:cNvPr id="12" name="Textfeld 11"/>
          <p:cNvSpPr txBox="1"/>
          <p:nvPr userDrawn="1"/>
        </p:nvSpPr>
        <p:spPr>
          <a:xfrm>
            <a:off x="7681546" y="4201290"/>
            <a:ext cx="10126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de-DE" sz="1200" dirty="0" err="1">
                <a:solidFill>
                  <a:schemeClr val="bg1"/>
                </a:solidFill>
              </a:rPr>
              <a:t>www.bam.de</a:t>
            </a:r>
            <a:endParaRPr lang="de-DE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983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1-spaltig, L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 hasCustomPrompt="1"/>
          </p:nvPr>
        </p:nvSpPr>
        <p:spPr>
          <a:xfrm>
            <a:off x="539750" y="1152000"/>
            <a:ext cx="6822250" cy="3546001"/>
          </a:xfrm>
        </p:spPr>
        <p:txBody>
          <a:bodyPr/>
          <a:lstStyle>
            <a:lvl1pPr marL="270000" indent="-270000">
              <a:spcBef>
                <a:spcPts val="1000"/>
              </a:spcBef>
              <a:buFont typeface="+mj-lt"/>
              <a:buAutoNum type="arabicPeriod"/>
              <a:defRPr/>
            </a:lvl1pPr>
            <a:lvl2pPr marL="270000" indent="-270000">
              <a:spcBef>
                <a:spcPts val="0"/>
              </a:spcBef>
              <a:buFont typeface=".AppleSystemUIFont" charset="-120"/>
              <a:buChar char="–"/>
              <a:defRPr/>
            </a:lvl2pPr>
            <a:lvl3pPr marL="540000" indent="-270000">
              <a:spcBef>
                <a:spcPts val="0"/>
              </a:spcBef>
              <a:defRPr/>
            </a:lvl3pPr>
            <a:lvl4pPr marL="540000">
              <a:spcBef>
                <a:spcPts val="0"/>
              </a:spcBef>
              <a:defRPr/>
            </a:lvl4pPr>
            <a:lvl5pPr marL="810000">
              <a:spcBef>
                <a:spcPts val="0"/>
              </a:spcBef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74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M: kleine Schriftgröß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br>
              <a:rPr lang="de-DE" dirty="0"/>
            </a:br>
            <a:r>
              <a:rPr lang="de-DE" dirty="0"/>
              <a:t>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40000" y="1151999"/>
            <a:ext cx="6480000" cy="3546001"/>
          </a:xfrm>
        </p:spPr>
        <p:txBody>
          <a:bodyPr/>
          <a:lstStyle>
            <a:lvl1pPr marL="270000" indent="-270000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  <a:defRPr sz="1300">
                <a:solidFill>
                  <a:schemeClr val="tx2"/>
                </a:solidFill>
              </a:defRPr>
            </a:lvl1pPr>
            <a:lvl2pPr marL="270000" indent="-270000">
              <a:lnSpc>
                <a:spcPts val="1600"/>
              </a:lnSpc>
              <a:spcBef>
                <a:spcPts val="0"/>
              </a:spcBef>
              <a:buFont typeface=".AppleSystemUIFont" charset="0"/>
              <a:buChar char="–"/>
              <a:defRPr sz="1300">
                <a:solidFill>
                  <a:schemeClr val="tx2"/>
                </a:solidFill>
              </a:defRPr>
            </a:lvl2pPr>
            <a:lvl3pPr marL="540000" indent="-27000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chemeClr val="tx2"/>
                </a:solidFill>
              </a:defRPr>
            </a:lvl3pPr>
            <a:lvl4pPr marL="540000" indent="-270000">
              <a:lnSpc>
                <a:spcPts val="1600"/>
              </a:lnSpc>
              <a:spcBef>
                <a:spcPts val="0"/>
              </a:spcBef>
              <a:defRPr sz="1300">
                <a:solidFill>
                  <a:schemeClr val="tx2"/>
                </a:solidFill>
              </a:defRPr>
            </a:lvl4pPr>
            <a:lvl5pPr marL="810000" indent="-270000">
              <a:lnSpc>
                <a:spcPts val="1600"/>
              </a:lnSpc>
              <a:spcBef>
                <a:spcPts val="0"/>
              </a:spcBef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1-spaltig, univer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682225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890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n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806425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40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univer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392400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Inhaltsplatzhalter 8"/>
          <p:cNvSpPr>
            <a:spLocks noGrp="1"/>
          </p:cNvSpPr>
          <p:nvPr>
            <p:ph sz="quarter" idx="14"/>
          </p:nvPr>
        </p:nvSpPr>
        <p:spPr>
          <a:xfrm>
            <a:off x="4680000" y="1152000"/>
            <a:ext cx="392400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064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 1 z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539750" y="1152000"/>
            <a:ext cx="2544763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/>
          </p:nvPr>
        </p:nvSpPr>
        <p:spPr>
          <a:xfrm>
            <a:off x="3301750" y="1152000"/>
            <a:ext cx="530225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75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Marginal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6732000" y="1152000"/>
            <a:ext cx="1872000" cy="3546000"/>
          </a:xfrm>
          <a:solidFill>
            <a:srgbClr val="00AFF0"/>
          </a:solidFill>
        </p:spPr>
        <p:txBody>
          <a:bodyPr lIns="72000" tIns="72000" rIns="72000" bIns="72000"/>
          <a:lstStyle>
            <a:lvl1pPr>
              <a:lnSpc>
                <a:spcPts val="1200"/>
              </a:lnSpc>
              <a:defRPr sz="900">
                <a:solidFill>
                  <a:schemeClr val="bg1"/>
                </a:solidFill>
              </a:defRPr>
            </a:lvl1pPr>
            <a:lvl2pPr marL="18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2pPr>
            <a:lvl3pPr marL="18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3pPr>
            <a:lvl4pPr marL="36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4pPr>
            <a:lvl5pPr marL="54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/>
          </p:nvPr>
        </p:nvSpPr>
        <p:spPr>
          <a:xfrm>
            <a:off x="539750" y="1151999"/>
            <a:ext cx="5940000" cy="3546001"/>
          </a:xfrm>
        </p:spPr>
        <p:txBody>
          <a:bodyPr/>
          <a:lstStyle>
            <a:lvl1pPr>
              <a:lnSpc>
                <a:spcPts val="2100"/>
              </a:lnSpc>
              <a:defRPr>
                <a:solidFill>
                  <a:schemeClr val="tx2"/>
                </a:solidFill>
              </a:defRPr>
            </a:lvl1pPr>
            <a:lvl2pPr>
              <a:lnSpc>
                <a:spcPts val="21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ts val="21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ts val="21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ts val="2100"/>
              </a:lnSpc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Bild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13" name="Bildplatzhalter 12"/>
          <p:cNvSpPr>
            <a:spLocks noGrp="1"/>
          </p:cNvSpPr>
          <p:nvPr>
            <p:ph type="pic" sz="quarter" idx="16"/>
          </p:nvPr>
        </p:nvSpPr>
        <p:spPr>
          <a:xfrm>
            <a:off x="539750" y="1188000"/>
            <a:ext cx="3924000" cy="24732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12"/>
          <p:cNvSpPr>
            <a:spLocks noGrp="1"/>
          </p:cNvSpPr>
          <p:nvPr>
            <p:ph type="pic" sz="quarter" idx="17"/>
          </p:nvPr>
        </p:nvSpPr>
        <p:spPr>
          <a:xfrm>
            <a:off x="4680250" y="1188000"/>
            <a:ext cx="3924000" cy="2471526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8"/>
          </p:nvPr>
        </p:nvSpPr>
        <p:spPr>
          <a:xfrm>
            <a:off x="539750" y="3815999"/>
            <a:ext cx="3924000" cy="882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9"/>
          </p:nvPr>
        </p:nvSpPr>
        <p:spPr>
          <a:xfrm>
            <a:off x="4678363" y="3816000"/>
            <a:ext cx="3924000" cy="88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584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3-spaltig, Bild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13" name="Bildplatzhalter 12"/>
          <p:cNvSpPr>
            <a:spLocks noGrp="1"/>
          </p:cNvSpPr>
          <p:nvPr>
            <p:ph type="pic" sz="quarter" idx="16"/>
          </p:nvPr>
        </p:nvSpPr>
        <p:spPr>
          <a:xfrm>
            <a:off x="3302000" y="1188000"/>
            <a:ext cx="2545200" cy="20196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12"/>
          <p:cNvSpPr>
            <a:spLocks noGrp="1"/>
          </p:cNvSpPr>
          <p:nvPr>
            <p:ph type="pic" sz="quarter" idx="17"/>
          </p:nvPr>
        </p:nvSpPr>
        <p:spPr>
          <a:xfrm>
            <a:off x="539313" y="1188000"/>
            <a:ext cx="2545200" cy="20196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6059488" y="1188000"/>
            <a:ext cx="2545200" cy="20196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9"/>
          </p:nvPr>
        </p:nvSpPr>
        <p:spPr>
          <a:xfrm>
            <a:off x="539750" y="3348000"/>
            <a:ext cx="5302800" cy="133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264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Bilder, 4er Grup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4678113" y="1227600"/>
            <a:ext cx="1854000" cy="15444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8"/>
          <p:cNvSpPr>
            <a:spLocks noGrp="1"/>
          </p:cNvSpPr>
          <p:nvPr>
            <p:ph type="pic" sz="quarter" idx="14"/>
          </p:nvPr>
        </p:nvSpPr>
        <p:spPr>
          <a:xfrm>
            <a:off x="6749750" y="1227600"/>
            <a:ext cx="1854000" cy="1544402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Bildplatzhalter 8"/>
          <p:cNvSpPr>
            <a:spLocks noGrp="1"/>
          </p:cNvSpPr>
          <p:nvPr>
            <p:ph type="pic" sz="quarter" idx="15"/>
          </p:nvPr>
        </p:nvSpPr>
        <p:spPr>
          <a:xfrm>
            <a:off x="6750000" y="2987115"/>
            <a:ext cx="1854000" cy="154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8"/>
          <p:cNvSpPr>
            <a:spLocks noGrp="1"/>
          </p:cNvSpPr>
          <p:nvPr>
            <p:ph type="pic" sz="quarter" idx="16"/>
          </p:nvPr>
        </p:nvSpPr>
        <p:spPr>
          <a:xfrm>
            <a:off x="4678113" y="2987115"/>
            <a:ext cx="1854000" cy="154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7"/>
          </p:nvPr>
        </p:nvSpPr>
        <p:spPr>
          <a:xfrm>
            <a:off x="540000" y="1188000"/>
            <a:ext cx="3923750" cy="3510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3" name="Gerade Verbindung 12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122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ganzseitig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0" y="1080000"/>
            <a:ext cx="9144000" cy="3672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Bildfolie</a:t>
            </a:r>
            <a:br>
              <a:rPr lang="de-DE" dirty="0"/>
            </a:br>
            <a:r>
              <a:rPr lang="de-DE" dirty="0"/>
              <a:t>Folie mit nur einem Bild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6"/>
          <p:cNvSpPr>
            <a:spLocks noGrp="1"/>
          </p:cNvSpPr>
          <p:nvPr>
            <p:ph type="pic" sz="quarter" idx="14"/>
          </p:nvPr>
        </p:nvSpPr>
        <p:spPr>
          <a:xfrm>
            <a:off x="0" y="987574"/>
            <a:ext cx="9144000" cy="3818426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84025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6822000" cy="7175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Überschrift</a:t>
            </a:r>
            <a:br>
              <a:rPr lang="de-DE" dirty="0"/>
            </a:br>
            <a:r>
              <a:rPr lang="de-DE" dirty="0" err="1"/>
              <a:t>Verdana</a:t>
            </a:r>
            <a:r>
              <a:rPr lang="de-DE" dirty="0"/>
              <a:t> </a:t>
            </a:r>
            <a:r>
              <a:rPr lang="de-DE" dirty="0" err="1"/>
              <a:t>Bold</a:t>
            </a:r>
            <a:r>
              <a:rPr lang="de-DE" dirty="0"/>
              <a:t>, 19 </a:t>
            </a:r>
            <a:r>
              <a:rPr lang="de-DE" dirty="0" err="1"/>
              <a:t>pt</a:t>
            </a:r>
            <a:r>
              <a:rPr lang="de-DE" dirty="0"/>
              <a:t>, ZAB 25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40000" y="1152000"/>
            <a:ext cx="6822000" cy="3546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540000" y="4878000"/>
            <a:ext cx="9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2000" y="4878000"/>
            <a:ext cx="576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884000" y="4878000"/>
            <a:ext cx="72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A9ED74F-9508-4ED9-B334-15F84E4ED6ED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80000"/>
            <a:ext cx="1255743" cy="89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36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4" r:id="rId5"/>
    <p:sldLayoutId id="2147483674" r:id="rId6"/>
    <p:sldLayoutId id="2147483672" r:id="rId7"/>
    <p:sldLayoutId id="2147483671" r:id="rId8"/>
    <p:sldLayoutId id="2147483670" r:id="rId9"/>
    <p:sldLayoutId id="2147483669" r:id="rId10"/>
    <p:sldLayoutId id="2147483673" r:id="rId11"/>
    <p:sldLayoutId id="2147483666" r:id="rId12"/>
    <p:sldLayoutId id="2147483665" r:id="rId13"/>
    <p:sldLayoutId id="2147483667" r:id="rId14"/>
    <p:sldLayoutId id="2147483654" r:id="rId15"/>
  </p:sldLayoutIdLst>
  <p:hf hdr="0"/>
  <p:txStyles>
    <p:titleStyle>
      <a:lvl1pPr algn="l" defTabSz="914400" rtl="0" eaLnBrk="1" latinLnBrk="0" hangingPunct="1">
        <a:lnSpc>
          <a:spcPts val="2500"/>
        </a:lnSpc>
        <a:spcBef>
          <a:spcPct val="0"/>
        </a:spcBef>
        <a:buNone/>
        <a:defRPr sz="1900" b="1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100"/>
        </a:lnSpc>
        <a:spcBef>
          <a:spcPts val="0"/>
        </a:spcBef>
        <a:buFontTx/>
        <a:buNone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360000" indent="-360000" algn="l" defTabSz="914400" rtl="0" eaLnBrk="1" latinLnBrk="0" hangingPunct="1">
        <a:lnSpc>
          <a:spcPts val="2100"/>
        </a:lnSpc>
        <a:spcBef>
          <a:spcPts val="0"/>
        </a:spcBef>
        <a:buFont typeface=".AppleSystemUIFont" charset="-120"/>
        <a:buChar char="–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360000" indent="-360000" algn="l" defTabSz="914400" rtl="0" eaLnBrk="1" latinLnBrk="0" hangingPunct="1">
        <a:lnSpc>
          <a:spcPts val="2100"/>
        </a:lnSpc>
        <a:spcBef>
          <a:spcPts val="0"/>
        </a:spcBef>
        <a:buFont typeface="+mj-lt"/>
        <a:buAutoNum type="arabicPeriod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630000" indent="-270000" algn="l" defTabSz="914400" rtl="0" eaLnBrk="1" latinLnBrk="0" hangingPunct="1">
        <a:lnSpc>
          <a:spcPts val="2100"/>
        </a:lnSpc>
        <a:spcBef>
          <a:spcPts val="0"/>
        </a:spcBef>
        <a:buFont typeface=".AppleSystemUIFont" charset="-120"/>
        <a:buChar char="–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900000" indent="-270000" algn="l" defTabSz="914400" rtl="0" eaLnBrk="1" latinLnBrk="0" hangingPunct="1">
        <a:lnSpc>
          <a:spcPts val="2100"/>
        </a:lnSpc>
        <a:spcBef>
          <a:spcPts val="0"/>
        </a:spcBef>
        <a:buFont typeface=".AppleSystemUIFont" charset="-120"/>
        <a:buChar char="–"/>
        <a:tabLst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RECODe</a:t>
            </a:r>
            <a:r>
              <a:rPr lang="de-DE" dirty="0"/>
              <a:t> – </a:t>
            </a:r>
            <a:r>
              <a:rPr lang="en-US" dirty="0"/>
              <a:t>Crash Course On Research Coding &amp; Development</a:t>
            </a:r>
            <a:endParaRPr lang="de-DE" dirty="0"/>
          </a:p>
        </p:txBody>
      </p:sp>
      <p:sp>
        <p:nvSpPr>
          <p:cNvPr id="13" name="Untertitel 1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9763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D09385-F976-79CC-AD9C-1FD17B4F9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trainers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F589FBE-B5DE-5FB7-E8CB-8A7161AF1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78D1D3-15A9-D903-744D-9D70F80D0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E635C1-EDF4-7B9B-D598-3DC34235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2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D552D70-8597-B3B0-2179-08481E97428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11085" y="1534332"/>
            <a:ext cx="7123911" cy="3093927"/>
          </a:xfrm>
        </p:spPr>
        <p:txBody>
          <a:bodyPr/>
          <a:lstStyle/>
          <a:p>
            <a:r>
              <a:rPr lang="de-DE" b="1" dirty="0"/>
              <a:t>José </a:t>
            </a:r>
            <a:r>
              <a:rPr lang="de-DE" dirty="0"/>
              <a:t>Pizarro Blanco (VP.1): </a:t>
            </a:r>
            <a:r>
              <a:rPr lang="de-DE" dirty="0">
                <a:highlight>
                  <a:srgbClr val="FFFF00"/>
                </a:highlight>
              </a:rPr>
              <a:t>SHORT BACKGROUND	IMAGE</a:t>
            </a:r>
          </a:p>
          <a:p>
            <a:endParaRPr lang="de-DE" dirty="0">
              <a:highlight>
                <a:srgbClr val="FFFF00"/>
              </a:highlight>
            </a:endParaRPr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r>
              <a:rPr lang="de-DE" b="1" dirty="0"/>
              <a:t>Ingo</a:t>
            </a:r>
            <a:r>
              <a:rPr lang="de-DE" dirty="0"/>
              <a:t> Breßler (6.5): </a:t>
            </a:r>
            <a:r>
              <a:rPr lang="de-DE" dirty="0">
                <a:highlight>
                  <a:srgbClr val="FFFF00"/>
                </a:highlight>
              </a:rPr>
              <a:t>SHORT BACKGROUND	IMAGE</a:t>
            </a:r>
          </a:p>
          <a:p>
            <a:endParaRPr lang="de-DE" dirty="0">
              <a:highlight>
                <a:srgbClr val="FFFF00"/>
              </a:highlight>
            </a:endParaRPr>
          </a:p>
          <a:p>
            <a:endParaRPr lang="de-DE" b="1" dirty="0"/>
          </a:p>
          <a:p>
            <a:endParaRPr lang="de-DE" b="1" dirty="0"/>
          </a:p>
          <a:p>
            <a:r>
              <a:rPr lang="de-DE" b="1" dirty="0"/>
              <a:t>Simon</a:t>
            </a:r>
            <a:r>
              <a:rPr lang="de-DE" dirty="0"/>
              <a:t> Müller (VP.1): Background in </a:t>
            </a:r>
            <a:r>
              <a:rPr lang="de-DE" dirty="0" err="1"/>
              <a:t>Geosciences</a:t>
            </a:r>
            <a:r>
              <a:rPr lang="de-DE" dirty="0"/>
              <a:t>. </a:t>
            </a:r>
            <a:r>
              <a:rPr lang="de-DE" dirty="0" err="1"/>
              <a:t>Used</a:t>
            </a:r>
            <a:r>
              <a:rPr lang="de-DE" dirty="0"/>
              <a:t> Python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pre-process</a:t>
            </a:r>
            <a:r>
              <a:rPr lang="de-DE" dirty="0"/>
              <a:t>, </a:t>
            </a:r>
            <a:r>
              <a:rPr lang="de-DE" dirty="0" err="1"/>
              <a:t>analyse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in </a:t>
            </a:r>
            <a:r>
              <a:rPr lang="de-DE" dirty="0" err="1"/>
              <a:t>various</a:t>
            </a:r>
            <a:r>
              <a:rPr lang="de-DE" dirty="0"/>
              <a:t> </a:t>
            </a:r>
            <a:r>
              <a:rPr lang="de-DE" dirty="0" err="1"/>
              <a:t>fields</a:t>
            </a:r>
            <a:r>
              <a:rPr lang="de-DE" dirty="0"/>
              <a:t>.</a:t>
            </a:r>
          </a:p>
          <a:p>
            <a:endParaRPr lang="en-GB" dirty="0">
              <a:highlight>
                <a:srgbClr val="FFFF00"/>
              </a:highlight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FBF4846-9C96-F021-91DE-04C3FAEEEC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" y="3759668"/>
            <a:ext cx="871011" cy="86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914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Python? 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3</a:t>
            </a:fld>
            <a:endParaRPr lang="de-DE"/>
          </a:p>
        </p:txBody>
      </p:sp>
      <p:sp>
        <p:nvSpPr>
          <p:cNvPr id="7" name="Inhaltsplatzhalter 1"/>
          <p:cNvSpPr txBox="1">
            <a:spLocks/>
          </p:cNvSpPr>
          <p:nvPr/>
        </p:nvSpPr>
        <p:spPr>
          <a:xfrm>
            <a:off x="-2370177" y="-1780403"/>
            <a:ext cx="6480000" cy="32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ACAADE2-6F65-DFB9-77A0-9E779424D0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03" t="34865" r="6610" b="12529"/>
          <a:stretch>
            <a:fillRect/>
          </a:stretch>
        </p:blipFill>
        <p:spPr>
          <a:xfrm>
            <a:off x="239311" y="1459597"/>
            <a:ext cx="8665127" cy="276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49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79521-EC88-01D2-51DB-D2F0A1E4B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C7B0A0-070B-65E3-AFB3-00AA29D3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Python?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B5C67F-CEEE-D79B-BBFA-C2021223D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CE9B42D-22AA-BD78-CD6A-A8332BD5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0A0107-E83D-04DA-AD33-61A0058E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4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1949F14-B460-9239-BCA1-7C1D8F2969A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/>
              <a:t>Very </a:t>
            </a:r>
            <a:r>
              <a:rPr lang="de-DE" dirty="0" err="1"/>
              <a:t>popular</a:t>
            </a:r>
            <a:r>
              <a:rPr lang="de-DE" dirty="0"/>
              <a:t> in </a:t>
            </a:r>
            <a:r>
              <a:rPr lang="de-DE" dirty="0" err="1"/>
              <a:t>scientific</a:t>
            </a:r>
            <a:r>
              <a:rPr lang="de-DE" dirty="0"/>
              <a:t> </a:t>
            </a:r>
            <a:r>
              <a:rPr lang="de-DE" dirty="0" err="1"/>
              <a:t>programming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Huge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available</a:t>
            </a:r>
            <a:r>
              <a:rPr lang="de-DE" dirty="0"/>
              <a:t> </a:t>
            </a:r>
            <a:r>
              <a:rPr lang="de-DE" dirty="0" err="1"/>
              <a:t>packages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:</a:t>
            </a:r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Easy </a:t>
            </a:r>
            <a:r>
              <a:rPr lang="de-DE" dirty="0" err="1"/>
              <a:t>handling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all </a:t>
            </a:r>
            <a:r>
              <a:rPr lang="de-DE" dirty="0" err="1"/>
              <a:t>kinds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Data Formats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Beautiful Data </a:t>
            </a:r>
            <a:r>
              <a:rPr lang="de-DE" dirty="0" err="1"/>
              <a:t>Visualization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Off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shelf</a:t>
            </a:r>
            <a:r>
              <a:rPr lang="de-DE" dirty="0"/>
              <a:t> Data Modeling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Deep Learning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0DC77104-7573-8DD8-4B83-7BF0CA8F9B67}"/>
              </a:ext>
            </a:extLst>
          </p:cNvPr>
          <p:cNvSpPr txBox="1">
            <a:spLocks/>
          </p:cNvSpPr>
          <p:nvPr/>
        </p:nvSpPr>
        <p:spPr>
          <a:xfrm>
            <a:off x="-2370177" y="-1780403"/>
            <a:ext cx="6480000" cy="32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29E5679-B10A-7907-C55D-111F6F580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830" y="3089426"/>
            <a:ext cx="4239835" cy="140303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FE536FE-ACA0-ADBC-518F-B063ECA70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020" y="1153776"/>
            <a:ext cx="3047459" cy="177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04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459BE9-5361-0EF5-4AA5-0D102506E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expect from the course?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79C5475-F2AC-932D-9165-A3C4A8BA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D84A5F-2D1C-DB28-0791-BE9DD82C8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5390E3-A953-EFFA-D9D1-9EB9CCE5C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5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6B3BD96-A162-1312-656B-3239B48A5A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7798338" cy="3546001"/>
          </a:xfrm>
        </p:spPr>
        <p:txBody>
          <a:bodyPr/>
          <a:lstStyle/>
          <a:p>
            <a:r>
              <a:rPr lang="en-US" b="1" dirty="0"/>
              <a:t>Covers most important aspects of Python programming.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Module 1: </a:t>
            </a:r>
            <a:r>
              <a:rPr lang="en-US" dirty="0"/>
              <a:t>basics of the foundations of Python 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Module 2: </a:t>
            </a:r>
            <a:r>
              <a:rPr lang="en-US" dirty="0"/>
              <a:t>introduction into version control with Git and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Module 3: </a:t>
            </a:r>
            <a:r>
              <a:rPr lang="en-US" dirty="0"/>
              <a:t>Large Language Models (LLMs) for coding assistance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Module 4: </a:t>
            </a:r>
            <a:r>
              <a:rPr lang="en-US" dirty="0"/>
              <a:t>practical guidance on packaging and distributing scientific software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Module 5:</a:t>
            </a:r>
            <a:r>
              <a:rPr lang="en-US" dirty="0"/>
              <a:t> setting up productive development environments.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2358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29276-3889-7405-210A-CAA0A35D3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E38D40-8291-8294-B771-8F61B55DB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expect from the course?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6111042-C9C2-9518-CD01-C8E469605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12ECA7-5125-D99B-ED02-DF54FB644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347A25-F903-0C4E-49EE-8AE4D1183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6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FBB54BD-7964-406E-1C60-10702C52B0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7798338" cy="3546001"/>
          </a:xfrm>
        </p:spPr>
        <p:txBody>
          <a:bodyPr/>
          <a:lstStyle/>
          <a:p>
            <a:r>
              <a:rPr lang="en-US" b="1" dirty="0">
                <a:solidFill>
                  <a:schemeClr val="bg1">
                    <a:lumMod val="65000"/>
                    <a:alpha val="50000"/>
                  </a:schemeClr>
                </a:solidFill>
              </a:rPr>
              <a:t>Covers most important aspects of Python programming.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Module 1: </a:t>
            </a:r>
            <a:r>
              <a:rPr lang="en-US" dirty="0"/>
              <a:t>basics of the foundations of Python 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65000"/>
                    <a:alpha val="50000"/>
                  </a:schemeClr>
                </a:solidFill>
              </a:rPr>
              <a:t>Module 2: </a:t>
            </a:r>
            <a:r>
              <a:rPr lang="en-US" dirty="0">
                <a:solidFill>
                  <a:schemeClr val="bg1">
                    <a:lumMod val="65000"/>
                    <a:alpha val="50000"/>
                  </a:schemeClr>
                </a:solidFill>
              </a:rPr>
              <a:t>introduction into version control with Git and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chemeClr val="bg1">
                  <a:lumMod val="65000"/>
                  <a:alpha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65000"/>
                    <a:alpha val="50000"/>
                  </a:schemeClr>
                </a:solidFill>
              </a:rPr>
              <a:t>Module 3: </a:t>
            </a:r>
            <a:r>
              <a:rPr lang="en-US" dirty="0">
                <a:solidFill>
                  <a:schemeClr val="bg1">
                    <a:lumMod val="65000"/>
                    <a:alpha val="50000"/>
                  </a:schemeClr>
                </a:solidFill>
              </a:rPr>
              <a:t>Large Language Models (LLMs) for coding assistance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chemeClr val="bg1">
                  <a:lumMod val="65000"/>
                  <a:alpha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65000"/>
                    <a:alpha val="50000"/>
                  </a:schemeClr>
                </a:solidFill>
              </a:rPr>
              <a:t>Module 4: </a:t>
            </a:r>
            <a:r>
              <a:rPr lang="en-US" dirty="0">
                <a:solidFill>
                  <a:schemeClr val="bg1">
                    <a:lumMod val="65000"/>
                    <a:alpha val="50000"/>
                  </a:schemeClr>
                </a:solidFill>
              </a:rPr>
              <a:t>practical guidance on packaging and distributing scientific software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chemeClr val="bg1">
                  <a:lumMod val="65000"/>
                  <a:alpha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65000"/>
                    <a:alpha val="50000"/>
                  </a:schemeClr>
                </a:solidFill>
              </a:rPr>
              <a:t>Module 5:</a:t>
            </a:r>
            <a:r>
              <a:rPr lang="en-US" dirty="0">
                <a:solidFill>
                  <a:schemeClr val="bg1">
                    <a:lumMod val="65000"/>
                    <a:alpha val="50000"/>
                  </a:schemeClr>
                </a:solidFill>
              </a:rPr>
              <a:t> setting up productive development environments.</a:t>
            </a:r>
            <a:endParaRPr lang="en-GB" dirty="0">
              <a:solidFill>
                <a:schemeClr val="bg1">
                  <a:lumMod val="65000"/>
                  <a:alpha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53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72E0C-A9DA-C54F-81D1-9EBF6CB7D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C3F259-51CA-0A25-C5D3-FA99B8987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 for today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0D57F5E-6514-54E7-126C-8BC7AD4E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4488176-603F-6E6D-3652-EC3B59FE5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BE78C38-FA0A-FD75-6DA9-96A2D1C8D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7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3A3EA21-47DB-1628-C957-DE91E817635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b="1" dirty="0"/>
              <a:t>Setting </a:t>
            </a:r>
            <a:r>
              <a:rPr lang="de-DE" b="1" dirty="0" err="1"/>
              <a:t>up</a:t>
            </a:r>
            <a:r>
              <a:rPr lang="de-DE" b="1" dirty="0"/>
              <a:t> </a:t>
            </a:r>
            <a:r>
              <a:rPr lang="de-DE" b="1" dirty="0" err="1"/>
              <a:t>the</a:t>
            </a:r>
            <a:r>
              <a:rPr lang="de-DE" b="1" dirty="0"/>
              <a:t> Python and Development Environment:</a:t>
            </a:r>
          </a:p>
          <a:p>
            <a:endParaRPr lang="de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Installing</a:t>
            </a:r>
            <a:r>
              <a:rPr lang="de-DE" dirty="0"/>
              <a:t> </a:t>
            </a:r>
            <a:r>
              <a:rPr lang="de-DE" dirty="0" err="1"/>
              <a:t>VSCode</a:t>
            </a:r>
            <a:r>
              <a:rPr lang="de-DE" dirty="0"/>
              <a:t>, Python via Miniforge3, and </a:t>
            </a:r>
            <a:r>
              <a:rPr lang="de-DE" dirty="0" err="1"/>
              <a:t>checking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GitHub </a:t>
            </a:r>
            <a:r>
              <a:rPr lang="de-DE" dirty="0" err="1"/>
              <a:t>accounts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Configuring</a:t>
            </a:r>
            <a:r>
              <a:rPr lang="de-DE" dirty="0"/>
              <a:t> </a:t>
            </a:r>
            <a:r>
              <a:rPr lang="de-DE" dirty="0" err="1"/>
              <a:t>VSCode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Python </a:t>
            </a:r>
            <a:r>
              <a:rPr lang="de-DE" dirty="0" err="1"/>
              <a:t>development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Creating</a:t>
            </a:r>
            <a:r>
              <a:rPr lang="de-DE" dirty="0"/>
              <a:t> and </a:t>
            </a:r>
            <a:r>
              <a:rPr lang="de-DE" dirty="0" err="1"/>
              <a:t>managing</a:t>
            </a:r>
            <a:r>
              <a:rPr lang="de-DE" dirty="0"/>
              <a:t> virtual </a:t>
            </a:r>
            <a:r>
              <a:rPr lang="de-DE" dirty="0" err="1"/>
              <a:t>environments</a:t>
            </a:r>
            <a:r>
              <a:rPr lang="de-DE" dirty="0"/>
              <a:t> (</a:t>
            </a:r>
            <a:r>
              <a:rPr lang="de-DE" i="1" dirty="0" err="1"/>
              <a:t>conda</a:t>
            </a:r>
            <a:r>
              <a:rPr lang="de-DE" dirty="0"/>
              <a:t>, </a:t>
            </a:r>
            <a:r>
              <a:rPr lang="de-DE" i="1" dirty="0" err="1"/>
              <a:t>venv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Jupyter</a:t>
            </a:r>
            <a:r>
              <a:rPr lang="de-DE" dirty="0"/>
              <a:t> Notebooks </a:t>
            </a:r>
            <a:r>
              <a:rPr lang="de-DE" dirty="0" err="1"/>
              <a:t>introduction</a:t>
            </a:r>
            <a:endParaRPr lang="de-DE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2866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5F42E8-E9F9-B3AC-8C75-31A68CB5F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Useful </a:t>
            </a:r>
            <a:r>
              <a:rPr lang="en-GB" dirty="0" err="1"/>
              <a:t>ressources</a:t>
            </a:r>
            <a:endParaRPr lang="en-GB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EFE9889-EA5E-67C3-C01E-62482501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90B2E27-888D-9A90-203E-A15E776BF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E1EB05-4235-87AE-4516-D3C8FD492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8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3BA51BB-135F-7EB1-D82D-CACF59F30FC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NEEDS TO BE FILLED</a:t>
            </a:r>
          </a:p>
        </p:txBody>
      </p:sp>
    </p:spTree>
    <p:extLst>
      <p:ext uri="{BB962C8B-B14F-4D97-AF65-F5344CB8AC3E}">
        <p14:creationId xmlns:p14="http://schemas.microsoft.com/office/powerpoint/2010/main" val="2137633295"/>
      </p:ext>
    </p:extLst>
  </p:cSld>
  <p:clrMapOvr>
    <a:masterClrMapping/>
  </p:clrMapOvr>
</p:sld>
</file>

<file path=ppt/theme/theme1.xml><?xml version="1.0" encoding="utf-8"?>
<a:theme xmlns:a="http://schemas.openxmlformats.org/drawingml/2006/main" name="BAM_16zu9_master">
  <a:themeElements>
    <a:clrScheme name="BAM">
      <a:dk1>
        <a:srgbClr val="000000"/>
      </a:dk1>
      <a:lt1>
        <a:sysClr val="window" lastClr="FFFFFF"/>
      </a:lt1>
      <a:dk2>
        <a:srgbClr val="002832"/>
      </a:dk2>
      <a:lt2>
        <a:srgbClr val="FFFFFF"/>
      </a:lt2>
      <a:accent1>
        <a:srgbClr val="D2001E"/>
      </a:accent1>
      <a:accent2>
        <a:srgbClr val="501919"/>
      </a:accent2>
      <a:accent3>
        <a:srgbClr val="00AFF0"/>
      </a:accent3>
      <a:accent4>
        <a:srgbClr val="00556E"/>
      </a:accent4>
      <a:accent5>
        <a:srgbClr val="8CB40F"/>
      </a:accent5>
      <a:accent6>
        <a:srgbClr val="FFFF00"/>
      </a:accent6>
      <a:hlink>
        <a:srgbClr val="002832"/>
      </a:hlink>
      <a:folHlink>
        <a:srgbClr val="002832"/>
      </a:folHlink>
    </a:clrScheme>
    <a:fontScheme name="BAM Tex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lnSpc>
            <a:spcPts val="2100"/>
          </a:lnSpc>
          <a:defRPr sz="1600" dirty="0"/>
        </a:defPPr>
      </a:lstStyle>
    </a:txDef>
  </a:objectDefaults>
  <a:extraClrSchemeLst>
    <a:extraClrScheme>
      <a:clrScheme name="BAM Farben">
        <a:dk1>
          <a:sysClr val="windowText" lastClr="000000"/>
        </a:dk1>
        <a:lt1>
          <a:sysClr val="window" lastClr="FFFFFF"/>
        </a:lt1>
        <a:dk2>
          <a:srgbClr val="002832"/>
        </a:dk2>
        <a:lt2>
          <a:srgbClr val="FFFFFF"/>
        </a:lt2>
        <a:accent1>
          <a:srgbClr val="D2001E"/>
        </a:accent1>
        <a:accent2>
          <a:srgbClr val="501919"/>
        </a:accent2>
        <a:accent3>
          <a:srgbClr val="00AFF0"/>
        </a:accent3>
        <a:accent4>
          <a:srgbClr val="00556E"/>
        </a:accent4>
        <a:accent5>
          <a:srgbClr val="8CB40F"/>
        </a:accent5>
        <a:accent6>
          <a:srgbClr val="FFFF00"/>
        </a:accent6>
        <a:hlink>
          <a:srgbClr val="002832"/>
        </a:hlink>
        <a:folHlink>
          <a:srgbClr val="002832"/>
        </a:folHlink>
      </a:clrScheme>
    </a:extraClrScheme>
  </a:extraClrSchemeLst>
  <a:extLst>
    <a:ext uri="{05A4C25C-085E-4340-85A3-A5531E510DB2}">
      <thm15:themeFamily xmlns:thm15="http://schemas.microsoft.com/office/thememl/2012/main" name="BAM_16zu9_master" id="{C9821BEF-2ACB-2B4B-8DCE-EE3870480A58}" vid="{C73E6368-F41D-804E-8BA9-C0FF5A538FBE}"/>
    </a:ext>
  </a:extLst>
</a:theme>
</file>

<file path=ppt/theme/theme2.xml><?xml version="1.0" encoding="utf-8"?>
<a:theme xmlns:a="http://schemas.openxmlformats.org/drawingml/2006/main" name="BAM - Master">
  <a:themeElements>
    <a:clrScheme name="BAM">
      <a:dk1>
        <a:srgbClr val="002832"/>
      </a:dk1>
      <a:lt1>
        <a:sysClr val="window" lastClr="FFFFFF"/>
      </a:lt1>
      <a:dk2>
        <a:srgbClr val="002832"/>
      </a:dk2>
      <a:lt2>
        <a:srgbClr val="FFFFFF"/>
      </a:lt2>
      <a:accent1>
        <a:srgbClr val="D2001E"/>
      </a:accent1>
      <a:accent2>
        <a:srgbClr val="501919"/>
      </a:accent2>
      <a:accent3>
        <a:srgbClr val="00AFF0"/>
      </a:accent3>
      <a:accent4>
        <a:srgbClr val="00556E"/>
      </a:accent4>
      <a:accent5>
        <a:srgbClr val="8CB40F"/>
      </a:accent5>
      <a:accent6>
        <a:srgbClr val="FFDC00"/>
      </a:accent6>
      <a:hlink>
        <a:srgbClr val="DC2328"/>
      </a:hlink>
      <a:folHlink>
        <a:srgbClr val="00556E"/>
      </a:folHlink>
    </a:clrScheme>
    <a:fontScheme name="BAM Tex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>
          <a:lnSpc>
            <a:spcPts val="2100"/>
          </a:lnSpc>
          <a:defRPr sz="1600" dirty="0"/>
        </a:defPPr>
      </a:lstStyle>
    </a:txDef>
  </a:objectDefaults>
  <a:extraClrSchemeLst>
    <a:extraClrScheme>
      <a:clrScheme name="BAM Farben">
        <a:dk1>
          <a:sysClr val="windowText" lastClr="000000"/>
        </a:dk1>
        <a:lt1>
          <a:sysClr val="window" lastClr="FFFFFF"/>
        </a:lt1>
        <a:dk2>
          <a:srgbClr val="002832"/>
        </a:dk2>
        <a:lt2>
          <a:srgbClr val="FFFFFF"/>
        </a:lt2>
        <a:accent1>
          <a:srgbClr val="D2001E"/>
        </a:accent1>
        <a:accent2>
          <a:srgbClr val="501919"/>
        </a:accent2>
        <a:accent3>
          <a:srgbClr val="00AFF0"/>
        </a:accent3>
        <a:accent4>
          <a:srgbClr val="00556E"/>
        </a:accent4>
        <a:accent5>
          <a:srgbClr val="8CB40F"/>
        </a:accent5>
        <a:accent6>
          <a:srgbClr val="FFDC00"/>
        </a:accent6>
        <a:hlink>
          <a:srgbClr val="002832"/>
        </a:hlink>
        <a:folHlink>
          <a:srgbClr val="002832"/>
        </a:folHlink>
      </a:clrScheme>
    </a:extraClrScheme>
  </a:extraClrScheme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BAM_16zu9</Template>
  <TotalTime>0</TotalTime>
  <Words>311</Words>
  <Application>Microsoft Office PowerPoint</Application>
  <PresentationFormat>Bildschirmpräsentation (16:9)</PresentationFormat>
  <Paragraphs>84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.AppleSystemUIFont</vt:lpstr>
      <vt:lpstr>Arial</vt:lpstr>
      <vt:lpstr>Calibri</vt:lpstr>
      <vt:lpstr>Verdana</vt:lpstr>
      <vt:lpstr>BAM_16zu9_master</vt:lpstr>
      <vt:lpstr>RECODe – Crash Course On Research Coding &amp; Development</vt:lpstr>
      <vt:lpstr>The trainers</vt:lpstr>
      <vt:lpstr>Why Python? </vt:lpstr>
      <vt:lpstr>Why Python? </vt:lpstr>
      <vt:lpstr>What to expect from the course?</vt:lpstr>
      <vt:lpstr>What to expect from the course?</vt:lpstr>
      <vt:lpstr>Plan for today</vt:lpstr>
      <vt:lpstr>Useful ressources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Müller, Simon</dc:creator>
  <cp:lastModifiedBy>Müller, Simon</cp:lastModifiedBy>
  <cp:revision>4</cp:revision>
  <dcterms:created xsi:type="dcterms:W3CDTF">2026-03-20T14:18:59Z</dcterms:created>
  <dcterms:modified xsi:type="dcterms:W3CDTF">2026-03-20T14:48:43Z</dcterms:modified>
  <cp:category>Präsentation</cp:category>
  <cp:contentStatus>2017-04-11</cp:contentStatus>
</cp:coreProperties>
</file>