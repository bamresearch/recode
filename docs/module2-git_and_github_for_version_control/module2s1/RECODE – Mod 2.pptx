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65" r:id="rId2"/>
    <p:sldId id="257" r:id="rId3"/>
    <p:sldId id="262" r:id="rId4"/>
    <p:sldId id="258" r:id="rId5"/>
    <p:sldId id="260" r:id="rId6"/>
    <p:sldId id="261" r:id="rId7"/>
    <p:sldId id="267" r:id="rId8"/>
    <p:sldId id="269" r:id="rId9"/>
    <p:sldId id="268" r:id="rId10"/>
    <p:sldId id="271" r:id="rId11"/>
    <p:sldId id="272" r:id="rId12"/>
    <p:sldId id="270" r:id="rId13"/>
    <p:sldId id="273" r:id="rId14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52" userDrawn="1">
          <p15:clr>
            <a:srgbClr val="A4A3A4"/>
          </p15:clr>
        </p15:guide>
        <p15:guide id="2" orient="horz" pos="838">
          <p15:clr>
            <a:srgbClr val="A4A3A4"/>
          </p15:clr>
        </p15:guide>
        <p15:guide id="3" orient="horz">
          <p15:clr>
            <a:srgbClr val="A4A3A4"/>
          </p15:clr>
        </p15:guide>
        <p15:guide id="5" orient="horz" pos="814">
          <p15:clr>
            <a:srgbClr val="A4A3A4"/>
          </p15:clr>
        </p15:guide>
        <p15:guide id="6" orient="horz" pos="2845" userDrawn="1">
          <p15:clr>
            <a:srgbClr val="A4A3A4"/>
          </p15:clr>
        </p15:guide>
        <p15:guide id="7" pos="340">
          <p15:clr>
            <a:srgbClr val="A4A3A4"/>
          </p15:clr>
        </p15:guide>
        <p15:guide id="8" pos="5420">
          <p15:clr>
            <a:srgbClr val="A4A3A4"/>
          </p15:clr>
        </p15:guide>
        <p15:guide id="9" pos="2947">
          <p15:clr>
            <a:srgbClr val="A4A3A4"/>
          </p15:clr>
        </p15:guide>
        <p15:guide id="10" pos="2813">
          <p15:clr>
            <a:srgbClr val="A4A3A4"/>
          </p15:clr>
        </p15:guide>
        <p15:guide id="11" pos="1950" userDrawn="1">
          <p15:clr>
            <a:srgbClr val="A4A3A4"/>
          </p15:clr>
        </p15:guide>
        <p15:guide id="12" pos="3817">
          <p15:clr>
            <a:srgbClr val="A4A3A4"/>
          </p15:clr>
        </p15:guide>
        <p15:guide id="13" pos="2080">
          <p15:clr>
            <a:srgbClr val="A4A3A4"/>
          </p15:clr>
        </p15:guide>
        <p15:guide id="14" pos="36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9"/>
  </p:normalViewPr>
  <p:slideViewPr>
    <p:cSldViewPr snapToGrid="0" snapToObjects="1" showGuides="1">
      <p:cViewPr varScale="1">
        <p:scale>
          <a:sx n="99" d="100"/>
          <a:sy n="99" d="100"/>
        </p:scale>
        <p:origin x="950" y="72"/>
      </p:cViewPr>
      <p:guideLst>
        <p:guide orient="horz" pos="1552"/>
        <p:guide orient="horz" pos="838"/>
        <p:guide orient="horz"/>
        <p:guide orient="horz" pos="814"/>
        <p:guide orient="horz" pos="2845"/>
        <p:guide pos="340"/>
        <p:guide pos="5420"/>
        <p:guide pos="2947"/>
        <p:guide pos="2813"/>
        <p:guide pos="1950"/>
        <p:guide pos="3817"/>
        <p:guide pos="2080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C5BC77-E589-FC43-842C-314DEB76EF88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BCADE-75F8-C143-8D6A-11EFEA56B06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94934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1DCD43-2D46-4F8F-A5DD-26B42E953E0E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D62D0-23E2-4DD5-9BB6-D6C7194C92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5478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1980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for:</a:t>
            </a:r>
          </a:p>
          <a:p>
            <a:pPr lvl="0"/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feature,</a:t>
            </a:r>
          </a:p>
          <a:p>
            <a:pPr lvl="0"/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lvl="0"/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restructuring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lvl="0"/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trying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something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experimental,</a:t>
            </a:r>
          </a:p>
          <a:p>
            <a:pPr lvl="0"/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preparing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pull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review.</a:t>
            </a:r>
          </a:p>
          <a:p>
            <a:pPr lvl="0"/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in a small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branches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stress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change 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home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4529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git</a:t>
            </a:r>
            <a:r>
              <a:rPr lang="de-DE" dirty="0"/>
              <a:t> log --</a:t>
            </a:r>
            <a:r>
              <a:rPr lang="de-DE" dirty="0" err="1"/>
              <a:t>oneline</a:t>
            </a:r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8569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commits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stored</a:t>
            </a:r>
            <a:r>
              <a:rPr lang="de-DE" dirty="0"/>
              <a:t> </a:t>
            </a:r>
            <a:r>
              <a:rPr lang="de-DE" dirty="0" err="1"/>
              <a:t>locally</a:t>
            </a:r>
            <a:r>
              <a:rPr lang="de-DE" dirty="0"/>
              <a:t> </a:t>
            </a:r>
            <a:r>
              <a:rPr lang="de-DE" dirty="0" err="1"/>
              <a:t>inside</a:t>
            </a:r>
            <a:r>
              <a:rPr lang="de-DE" dirty="0"/>
              <a:t> the </a:t>
            </a:r>
            <a:r>
              <a:rPr lang="de-DE" dirty="0" err="1"/>
              <a:t>repository’s</a:t>
            </a:r>
            <a:r>
              <a:rPr lang="de-DE" dirty="0"/>
              <a:t> 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de-DE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</a:t>
            </a:r>
            <a:r>
              <a:rPr lang="de-DE" dirty="0"/>
              <a:t> </a:t>
            </a:r>
            <a:r>
              <a:rPr lang="de-DE" dirty="0" err="1"/>
              <a:t>folder</a:t>
            </a:r>
            <a:r>
              <a:rPr lang="de-DE" dirty="0"/>
              <a:t>. (Only </a:t>
            </a:r>
            <a:r>
              <a:rPr lang="de-DE" dirty="0" err="1"/>
              <a:t>local</a:t>
            </a:r>
            <a:r>
              <a:rPr lang="de-DE" dirty="0"/>
              <a:t>,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something</a:t>
            </a:r>
            <a:r>
              <a:rPr lang="de-DE" dirty="0"/>
              <a:t> </a:t>
            </a:r>
            <a:r>
              <a:rPr lang="de-DE" dirty="0" err="1"/>
              <a:t>crashes</a:t>
            </a:r>
            <a:r>
              <a:rPr lang="de-DE" dirty="0"/>
              <a:t>, all </a:t>
            </a:r>
            <a:r>
              <a:rPr lang="de-DE" dirty="0" err="1"/>
              <a:t>stuff</a:t>
            </a:r>
            <a:r>
              <a:rPr lang="de-DE" dirty="0"/>
              <a:t> will </a:t>
            </a:r>
            <a:r>
              <a:rPr lang="de-DE" dirty="0" err="1"/>
              <a:t>be</a:t>
            </a:r>
            <a:r>
              <a:rPr lang="de-DE" dirty="0"/>
              <a:t> lost)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9275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Or --local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AD62D0-23E2-4DD5-9BB6-D6C7194C924C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8664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" y="901519"/>
            <a:ext cx="1614683" cy="356961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88000"/>
            <a:ext cx="9143998" cy="3563111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40000" y="1965601"/>
            <a:ext cx="7200000" cy="750166"/>
          </a:xfrm>
        </p:spPr>
        <p:txBody>
          <a:bodyPr/>
          <a:lstStyle>
            <a:lvl1pPr>
              <a:lnSpc>
                <a:spcPts val="3000"/>
              </a:lnSpc>
              <a:defRPr sz="2400" b="1" cap="all" baseline="0"/>
            </a:lvl1pPr>
          </a:lstStyle>
          <a:p>
            <a:r>
              <a:rPr lang="de-DE" dirty="0"/>
              <a:t>TITEL DER PRÄSENTATION</a:t>
            </a:r>
            <a:br>
              <a:rPr lang="de-DE" dirty="0"/>
            </a:br>
            <a:r>
              <a:rPr lang="de-DE" dirty="0"/>
              <a:t>SCHRIFT VERDANA BOLD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40000" y="2728800"/>
            <a:ext cx="7200000" cy="1643150"/>
          </a:xfrm>
        </p:spPr>
        <p:txBody>
          <a:bodyPr/>
          <a:lstStyle>
            <a:lvl1pPr marL="0" indent="0" algn="l">
              <a:lnSpc>
                <a:spcPts val="3000"/>
              </a:lnSpc>
              <a:spcBef>
                <a:spcPts val="0"/>
              </a:spcBef>
              <a:buNone/>
              <a:defRPr sz="2400" b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Untertitel (optional), Name des Redners</a:t>
            </a:r>
          </a:p>
          <a:p>
            <a:r>
              <a:rPr lang="de-DE" dirty="0" err="1"/>
              <a:t>Veranstatungstitel</a:t>
            </a:r>
            <a:endParaRPr lang="de-DE" dirty="0"/>
          </a:p>
          <a:p>
            <a:r>
              <a:rPr lang="de-DE" dirty="0" err="1"/>
              <a:t>Verdana</a:t>
            </a:r>
            <a:r>
              <a:rPr lang="de-DE" dirty="0"/>
              <a:t> Regular 24 </a:t>
            </a:r>
            <a:r>
              <a:rPr lang="de-DE" dirty="0" err="1"/>
              <a:t>pt</a:t>
            </a:r>
            <a:r>
              <a:rPr lang="de-DE" dirty="0"/>
              <a:t>, ZAB 30 </a:t>
            </a:r>
            <a:r>
              <a:rPr lang="de-DE" dirty="0" err="1"/>
              <a:t>pt</a:t>
            </a:r>
            <a:endParaRPr lang="de-DE" dirty="0"/>
          </a:p>
          <a:p>
            <a:r>
              <a:rPr lang="de-DE" dirty="0"/>
              <a:t>Maximal vier Zeilen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180000"/>
            <a:ext cx="1255743" cy="900000"/>
          </a:xfrm>
          <a:prstGeom prst="rect">
            <a:avLst/>
          </a:prstGeom>
        </p:spPr>
      </p:pic>
      <p:cxnSp>
        <p:nvCxnSpPr>
          <p:cNvPr id="11" name="Gerade Verbindung 10"/>
          <p:cNvCxnSpPr/>
          <p:nvPr userDrawn="1"/>
        </p:nvCxnSpPr>
        <p:spPr>
          <a:xfrm>
            <a:off x="539750" y="1771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540000" y="4435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281600"/>
            <a:ext cx="1440000" cy="2872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Datum</a:t>
            </a:r>
          </a:p>
        </p:txBody>
      </p:sp>
      <p:sp>
        <p:nvSpPr>
          <p:cNvPr id="13" name="Textfeld 12"/>
          <p:cNvSpPr txBox="1"/>
          <p:nvPr userDrawn="1"/>
        </p:nvSpPr>
        <p:spPr>
          <a:xfrm>
            <a:off x="7681546" y="4201290"/>
            <a:ext cx="10126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de-DE" sz="1200" dirty="0" err="1">
                <a:solidFill>
                  <a:schemeClr val="bg1"/>
                </a:solidFill>
              </a:rPr>
              <a:t>www.bam.de</a:t>
            </a:r>
            <a:endParaRPr lang="de-DE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622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Titelfolie (ausführlich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0" y="901519"/>
            <a:ext cx="1614683" cy="356961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188000"/>
            <a:ext cx="9143998" cy="3563111"/>
          </a:xfrm>
          <a:prstGeom prst="rect">
            <a:avLst/>
          </a:prstGeom>
        </p:spPr>
      </p:pic>
      <p:cxnSp>
        <p:nvCxnSpPr>
          <p:cNvPr id="13" name="Gerade Verbindung 12"/>
          <p:cNvCxnSpPr/>
          <p:nvPr userDrawn="1"/>
        </p:nvCxnSpPr>
        <p:spPr>
          <a:xfrm>
            <a:off x="540000" y="4435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539750" y="1771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40000" y="1965600"/>
            <a:ext cx="8064000" cy="748800"/>
          </a:xfrm>
        </p:spPr>
        <p:txBody>
          <a:bodyPr/>
          <a:lstStyle>
            <a:lvl1pPr>
              <a:lnSpc>
                <a:spcPts val="3000"/>
              </a:lnSpc>
              <a:defRPr sz="2400" b="1" cap="all" baseline="0"/>
            </a:lvl1pPr>
          </a:lstStyle>
          <a:p>
            <a:r>
              <a:rPr lang="de-DE" dirty="0"/>
              <a:t>TITEL DER PRÄSENTATION (AUSFÜHRLICH)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540000" y="2340000"/>
            <a:ext cx="8064000" cy="748800"/>
          </a:xfrm>
        </p:spPr>
        <p:txBody>
          <a:bodyPr/>
          <a:lstStyle>
            <a:lvl1pPr marL="0" indent="0" algn="l">
              <a:lnSpc>
                <a:spcPts val="3000"/>
              </a:lnSpc>
              <a:spcBef>
                <a:spcPts val="0"/>
              </a:spcBef>
              <a:buNone/>
              <a:defRPr sz="2400" b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Untertitel </a:t>
            </a:r>
            <a:r>
              <a:rPr lang="de-DE" dirty="0" err="1"/>
              <a:t>Verdana</a:t>
            </a:r>
            <a:r>
              <a:rPr lang="de-DE" dirty="0"/>
              <a:t> Regular, 24 </a:t>
            </a:r>
            <a:r>
              <a:rPr lang="de-DE" dirty="0" err="1"/>
              <a:t>pt</a:t>
            </a:r>
            <a:r>
              <a:rPr lang="de-DE" dirty="0"/>
              <a:t> ZAB 30 </a:t>
            </a:r>
            <a:r>
              <a:rPr lang="de-DE" dirty="0" err="1"/>
              <a:t>pt</a:t>
            </a:r>
            <a:endParaRPr lang="de-DE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180000"/>
            <a:ext cx="1255743" cy="900000"/>
          </a:xfrm>
          <a:prstGeom prst="rect">
            <a:avLst/>
          </a:prstGeom>
        </p:spPr>
      </p:pic>
      <p:sp>
        <p:nvSpPr>
          <p:cNvPr id="15" name="Textplatzhalt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3042000"/>
            <a:ext cx="8064000" cy="75388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Auflistung der Beteiligten Personen </a:t>
            </a:r>
            <a:r>
              <a:rPr lang="de-DE" dirty="0" err="1"/>
              <a:t>Verdana</a:t>
            </a:r>
            <a:r>
              <a:rPr lang="de-DE" dirty="0"/>
              <a:t> Regular 16 </a:t>
            </a:r>
            <a:r>
              <a:rPr lang="de-DE" dirty="0" err="1"/>
              <a:t>pt</a:t>
            </a:r>
            <a:r>
              <a:rPr lang="de-DE" dirty="0"/>
              <a:t>, ZAB 21 </a:t>
            </a:r>
            <a:r>
              <a:rPr lang="de-DE" dirty="0" err="1"/>
              <a:t>pt</a:t>
            </a:r>
            <a:endParaRPr lang="de-DE" dirty="0"/>
          </a:p>
          <a:p>
            <a:pPr lvl="0"/>
            <a:endParaRPr lang="de-DE" dirty="0"/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3579862"/>
            <a:ext cx="6264498" cy="720080"/>
          </a:xfrm>
        </p:spPr>
        <p:txBody>
          <a:bodyPr anchor="b" anchorCtr="0"/>
          <a:lstStyle>
            <a:lvl1pPr>
              <a:lnSpc>
                <a:spcPts val="1500"/>
              </a:lnSpc>
              <a:spcBef>
                <a:spcPts val="0"/>
              </a:spcBef>
              <a:defRPr sz="1200" baseline="0"/>
            </a:lvl1pPr>
            <a:lvl2pPr>
              <a:lnSpc>
                <a:spcPts val="1500"/>
              </a:lnSpc>
              <a:spcBef>
                <a:spcPts val="0"/>
              </a:spcBef>
              <a:defRPr sz="1200"/>
            </a:lvl2pPr>
            <a:lvl3pPr>
              <a:lnSpc>
                <a:spcPts val="1500"/>
              </a:lnSpc>
              <a:spcBef>
                <a:spcPts val="0"/>
              </a:spcBef>
              <a:defRPr sz="1200"/>
            </a:lvl3pPr>
            <a:lvl4pPr>
              <a:lnSpc>
                <a:spcPts val="1500"/>
              </a:lnSpc>
              <a:spcBef>
                <a:spcPts val="0"/>
              </a:spcBef>
              <a:defRPr sz="1200"/>
            </a:lvl4pPr>
            <a:lvl5pPr>
              <a:lnSpc>
                <a:spcPts val="15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de-DE" dirty="0"/>
              <a:t>Auflistung der beteiligten Einrichtungen </a:t>
            </a:r>
            <a:r>
              <a:rPr lang="de-DE" dirty="0" err="1"/>
              <a:t>Verdana</a:t>
            </a:r>
            <a:r>
              <a:rPr lang="de-DE" dirty="0"/>
              <a:t> Regular 12 </a:t>
            </a:r>
            <a:r>
              <a:rPr lang="de-DE" dirty="0" err="1"/>
              <a:t>pt</a:t>
            </a:r>
            <a:r>
              <a:rPr lang="de-DE" dirty="0"/>
              <a:t>, ZAB 15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18" name="Textplatzhalt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281600"/>
            <a:ext cx="1440000" cy="2872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/>
              <a:t>Datum</a:t>
            </a:r>
          </a:p>
        </p:txBody>
      </p:sp>
      <p:sp>
        <p:nvSpPr>
          <p:cNvPr id="14" name="Textfeld 13"/>
          <p:cNvSpPr txBox="1"/>
          <p:nvPr userDrawn="1"/>
        </p:nvSpPr>
        <p:spPr>
          <a:xfrm>
            <a:off x="7681546" y="4201290"/>
            <a:ext cx="10126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de-DE" sz="1200" dirty="0" err="1">
                <a:solidFill>
                  <a:schemeClr val="bg1"/>
                </a:solidFill>
              </a:rPr>
              <a:t>www.bam.de</a:t>
            </a:r>
            <a:endParaRPr lang="de-DE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183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Gliederung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Textplatzhalter 2"/>
          <p:cNvSpPr>
            <a:spLocks noGrp="1"/>
          </p:cNvSpPr>
          <p:nvPr>
            <p:ph idx="1" hasCustomPrompt="1"/>
          </p:nvPr>
        </p:nvSpPr>
        <p:spPr>
          <a:xfrm>
            <a:off x="540000" y="1151999"/>
            <a:ext cx="6822000" cy="3546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tabLst>
                <a:tab pos="6794500" algn="r"/>
              </a:tabLst>
              <a:defRPr/>
            </a:lvl1pPr>
          </a:lstStyle>
          <a:p>
            <a:pPr lvl="0"/>
            <a:r>
              <a:rPr lang="de-DE" dirty="0"/>
              <a:t>Seitenbeschreibung	5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5057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/>
          <p:cNvSpPr/>
          <p:nvPr userDrawn="1"/>
        </p:nvSpPr>
        <p:spPr>
          <a:xfrm>
            <a:off x="539750" y="1080000"/>
            <a:ext cx="8064500" cy="3672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88000"/>
            <a:ext cx="9144000" cy="3563111"/>
          </a:xfrm>
          <a:prstGeom prst="rect">
            <a:avLst/>
          </a:prstGeom>
        </p:spPr>
      </p:pic>
      <p:cxnSp>
        <p:nvCxnSpPr>
          <p:cNvPr id="10" name="Gerade Verbindung 9"/>
          <p:cNvCxnSpPr/>
          <p:nvPr userDrawn="1"/>
        </p:nvCxnSpPr>
        <p:spPr>
          <a:xfrm>
            <a:off x="539750" y="1483168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540000" y="4435200"/>
            <a:ext cx="396000" cy="0"/>
          </a:xfrm>
          <a:prstGeom prst="line">
            <a:avLst/>
          </a:prstGeom>
          <a:ln w="2413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1677600"/>
            <a:ext cx="6822250" cy="748800"/>
          </a:xfrm>
        </p:spPr>
        <p:txBody>
          <a:bodyPr/>
          <a:lstStyle>
            <a:lvl1pPr>
              <a:lnSpc>
                <a:spcPts val="3000"/>
              </a:lnSpc>
              <a:defRPr sz="2400" b="1"/>
            </a:lvl1pPr>
          </a:lstStyle>
          <a:p>
            <a:pPr lvl="0"/>
            <a:r>
              <a:rPr lang="de-DE" dirty="0" err="1"/>
              <a:t>Kapiteltrenner</a:t>
            </a:r>
            <a:endParaRPr lang="de-DE" dirty="0"/>
          </a:p>
          <a:p>
            <a:pPr lvl="0"/>
            <a:r>
              <a:rPr lang="de-DE" dirty="0" err="1"/>
              <a:t>Verdana</a:t>
            </a:r>
            <a:r>
              <a:rPr lang="de-DE" dirty="0"/>
              <a:t> </a:t>
            </a:r>
            <a:r>
              <a:rPr lang="de-DE" dirty="0" err="1"/>
              <a:t>Bold</a:t>
            </a:r>
            <a:r>
              <a:rPr lang="de-DE" dirty="0"/>
              <a:t> 24 PT, ZAB 30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39750" y="2440800"/>
            <a:ext cx="6822250" cy="1641600"/>
          </a:xfrm>
        </p:spPr>
        <p:txBody>
          <a:bodyPr/>
          <a:lstStyle>
            <a:lvl1pPr>
              <a:lnSpc>
                <a:spcPts val="3000"/>
              </a:lnSpc>
              <a:defRPr sz="2400"/>
            </a:lvl1pPr>
          </a:lstStyle>
          <a:p>
            <a:pPr lvl="0"/>
            <a:r>
              <a:rPr lang="de-DE" dirty="0"/>
              <a:t>Untertitel </a:t>
            </a:r>
            <a:r>
              <a:rPr lang="de-DE" dirty="0" err="1"/>
              <a:t>Verdana</a:t>
            </a:r>
            <a:r>
              <a:rPr lang="de-DE" dirty="0"/>
              <a:t> Regular 24 </a:t>
            </a:r>
            <a:r>
              <a:rPr lang="de-DE" dirty="0" err="1"/>
              <a:t>pt</a:t>
            </a:r>
            <a:r>
              <a:rPr lang="de-DE" dirty="0"/>
              <a:t>, ZAB 30 </a:t>
            </a:r>
            <a:r>
              <a:rPr lang="de-DE" dirty="0" err="1"/>
              <a:t>pt</a:t>
            </a:r>
            <a:endParaRPr lang="de-DE" dirty="0"/>
          </a:p>
          <a:p>
            <a:pPr lvl="0"/>
            <a:r>
              <a:rPr lang="de-DE" dirty="0"/>
              <a:t>Maximal vier Zeilen</a:t>
            </a:r>
          </a:p>
          <a:p>
            <a:pPr lvl="0"/>
            <a:r>
              <a:rPr lang="de-DE" dirty="0"/>
              <a:t>Textfarbe BAM Schwarz</a:t>
            </a:r>
          </a:p>
        </p:txBody>
      </p:sp>
      <p:sp>
        <p:nvSpPr>
          <p:cNvPr id="12" name="Textfeld 11"/>
          <p:cNvSpPr txBox="1"/>
          <p:nvPr userDrawn="1"/>
        </p:nvSpPr>
        <p:spPr>
          <a:xfrm>
            <a:off x="7681546" y="4201290"/>
            <a:ext cx="1012650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de-DE" sz="1200" dirty="0" err="1">
                <a:solidFill>
                  <a:schemeClr val="bg1"/>
                </a:solidFill>
              </a:rPr>
              <a:t>www.bam.de</a:t>
            </a:r>
            <a:endParaRPr lang="de-DE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4983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1-spaltig, L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 hasCustomPrompt="1"/>
          </p:nvPr>
        </p:nvSpPr>
        <p:spPr>
          <a:xfrm>
            <a:off x="539750" y="1152000"/>
            <a:ext cx="6822250" cy="3546001"/>
          </a:xfrm>
        </p:spPr>
        <p:txBody>
          <a:bodyPr/>
          <a:lstStyle>
            <a:lvl1pPr marL="270000" indent="-270000">
              <a:spcBef>
                <a:spcPts val="1000"/>
              </a:spcBef>
              <a:buFont typeface="+mj-lt"/>
              <a:buAutoNum type="arabicPeriod"/>
              <a:defRPr/>
            </a:lvl1pPr>
            <a:lvl2pPr marL="270000" indent="-270000">
              <a:spcBef>
                <a:spcPts val="0"/>
              </a:spcBef>
              <a:buFont typeface=".AppleSystemUIFont" charset="-120"/>
              <a:buChar char="–"/>
              <a:defRPr/>
            </a:lvl2pPr>
            <a:lvl3pPr marL="540000" indent="-270000">
              <a:spcBef>
                <a:spcPts val="0"/>
              </a:spcBef>
              <a:defRPr/>
            </a:lvl3pPr>
            <a:lvl4pPr marL="540000">
              <a:spcBef>
                <a:spcPts val="0"/>
              </a:spcBef>
              <a:defRPr/>
            </a:lvl4pPr>
            <a:lvl5pPr marL="810000">
              <a:spcBef>
                <a:spcPts val="0"/>
              </a:spcBef>
              <a:defRPr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74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M: kleine Schriftgröß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br>
              <a:rPr lang="de-DE" dirty="0"/>
            </a:br>
            <a:r>
              <a:rPr lang="de-DE" dirty="0"/>
              <a:t>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40000" y="1151999"/>
            <a:ext cx="6480000" cy="3546001"/>
          </a:xfrm>
        </p:spPr>
        <p:txBody>
          <a:bodyPr/>
          <a:lstStyle>
            <a:lvl1pPr marL="270000" indent="-270000">
              <a:lnSpc>
                <a:spcPts val="16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Font typeface="+mj-lt"/>
              <a:buAutoNum type="arabicPeriod"/>
              <a:defRPr sz="1300">
                <a:solidFill>
                  <a:schemeClr val="tx2"/>
                </a:solidFill>
              </a:defRPr>
            </a:lvl1pPr>
            <a:lvl2pPr marL="270000" indent="-270000">
              <a:lnSpc>
                <a:spcPts val="1600"/>
              </a:lnSpc>
              <a:spcBef>
                <a:spcPts val="0"/>
              </a:spcBef>
              <a:buFont typeface=".AppleSystemUIFont" charset="0"/>
              <a:buChar char="–"/>
              <a:defRPr sz="1300">
                <a:solidFill>
                  <a:schemeClr val="tx2"/>
                </a:solidFill>
              </a:defRPr>
            </a:lvl2pPr>
            <a:lvl3pPr marL="540000" indent="-27000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chemeClr val="tx2"/>
                </a:solidFill>
              </a:defRPr>
            </a:lvl3pPr>
            <a:lvl4pPr marL="540000" indent="-270000">
              <a:lnSpc>
                <a:spcPts val="1600"/>
              </a:lnSpc>
              <a:spcBef>
                <a:spcPts val="0"/>
              </a:spcBef>
              <a:defRPr sz="1300">
                <a:solidFill>
                  <a:schemeClr val="tx2"/>
                </a:solidFill>
              </a:defRPr>
            </a:lvl4pPr>
            <a:lvl5pPr marL="810000" indent="-270000">
              <a:lnSpc>
                <a:spcPts val="1600"/>
              </a:lnSpc>
              <a:spcBef>
                <a:spcPts val="0"/>
              </a:spcBef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1-spaltig, univer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682225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890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n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806425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7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40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univer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539750" y="1152000"/>
            <a:ext cx="392400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Inhaltsplatzhalter 8"/>
          <p:cNvSpPr>
            <a:spLocks noGrp="1"/>
          </p:cNvSpPr>
          <p:nvPr>
            <p:ph sz="quarter" idx="14"/>
          </p:nvPr>
        </p:nvSpPr>
        <p:spPr>
          <a:xfrm>
            <a:off x="4680000" y="1152000"/>
            <a:ext cx="392400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064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 1 z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539750" y="1152000"/>
            <a:ext cx="2544763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/>
          </p:nvPr>
        </p:nvSpPr>
        <p:spPr>
          <a:xfrm>
            <a:off x="3301750" y="1152000"/>
            <a:ext cx="5302250" cy="3546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75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Marginal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6732000" y="1152000"/>
            <a:ext cx="1872000" cy="3546000"/>
          </a:xfrm>
          <a:solidFill>
            <a:srgbClr val="00AFF0"/>
          </a:solidFill>
        </p:spPr>
        <p:txBody>
          <a:bodyPr lIns="72000" tIns="72000" rIns="72000" bIns="72000"/>
          <a:lstStyle>
            <a:lvl1pPr>
              <a:lnSpc>
                <a:spcPts val="1200"/>
              </a:lnSpc>
              <a:defRPr sz="900">
                <a:solidFill>
                  <a:schemeClr val="bg1"/>
                </a:solidFill>
              </a:defRPr>
            </a:lvl1pPr>
            <a:lvl2pPr marL="18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2pPr>
            <a:lvl3pPr marL="18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3pPr>
            <a:lvl4pPr marL="36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4pPr>
            <a:lvl5pPr marL="540000" indent="-180000">
              <a:lnSpc>
                <a:spcPts val="1200"/>
              </a:lnSpc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/>
          </p:nvPr>
        </p:nvSpPr>
        <p:spPr>
          <a:xfrm>
            <a:off x="539750" y="1151999"/>
            <a:ext cx="5940000" cy="3546001"/>
          </a:xfrm>
        </p:spPr>
        <p:txBody>
          <a:bodyPr/>
          <a:lstStyle>
            <a:lvl1pPr>
              <a:lnSpc>
                <a:spcPts val="2100"/>
              </a:lnSpc>
              <a:defRPr>
                <a:solidFill>
                  <a:schemeClr val="tx2"/>
                </a:solidFill>
              </a:defRPr>
            </a:lvl1pPr>
            <a:lvl2pPr>
              <a:lnSpc>
                <a:spcPts val="21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ts val="21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ts val="21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ts val="2100"/>
              </a:lnSpc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Bild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13" name="Bildplatzhalter 12"/>
          <p:cNvSpPr>
            <a:spLocks noGrp="1"/>
          </p:cNvSpPr>
          <p:nvPr>
            <p:ph type="pic" sz="quarter" idx="16"/>
          </p:nvPr>
        </p:nvSpPr>
        <p:spPr>
          <a:xfrm>
            <a:off x="539750" y="1188000"/>
            <a:ext cx="3924000" cy="24732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12"/>
          <p:cNvSpPr>
            <a:spLocks noGrp="1"/>
          </p:cNvSpPr>
          <p:nvPr>
            <p:ph type="pic" sz="quarter" idx="17"/>
          </p:nvPr>
        </p:nvSpPr>
        <p:spPr>
          <a:xfrm>
            <a:off x="4680250" y="1188000"/>
            <a:ext cx="3924000" cy="2471526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8"/>
          </p:nvPr>
        </p:nvSpPr>
        <p:spPr>
          <a:xfrm>
            <a:off x="539750" y="3815999"/>
            <a:ext cx="3924000" cy="882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9"/>
          </p:nvPr>
        </p:nvSpPr>
        <p:spPr>
          <a:xfrm>
            <a:off x="4678363" y="3816000"/>
            <a:ext cx="3924000" cy="88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11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584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3-spaltig, Bilder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13" name="Bildplatzhalter 12"/>
          <p:cNvSpPr>
            <a:spLocks noGrp="1"/>
          </p:cNvSpPr>
          <p:nvPr>
            <p:ph type="pic" sz="quarter" idx="16"/>
          </p:nvPr>
        </p:nvSpPr>
        <p:spPr>
          <a:xfrm>
            <a:off x="3302000" y="1188000"/>
            <a:ext cx="2545200" cy="20196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12"/>
          <p:cNvSpPr>
            <a:spLocks noGrp="1"/>
          </p:cNvSpPr>
          <p:nvPr>
            <p:ph type="pic" sz="quarter" idx="17"/>
          </p:nvPr>
        </p:nvSpPr>
        <p:spPr>
          <a:xfrm>
            <a:off x="539313" y="1188000"/>
            <a:ext cx="2545200" cy="20196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6059488" y="1188000"/>
            <a:ext cx="2545200" cy="20196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9"/>
          </p:nvPr>
        </p:nvSpPr>
        <p:spPr>
          <a:xfrm>
            <a:off x="539750" y="3348000"/>
            <a:ext cx="5302800" cy="1332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10" name="Gerade Verbindung 9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264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2-spaltig, Bilder, 4er Grup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3"/>
          </p:nvPr>
        </p:nvSpPr>
        <p:spPr>
          <a:xfrm>
            <a:off x="4678113" y="1227600"/>
            <a:ext cx="1854000" cy="154440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8"/>
          <p:cNvSpPr>
            <a:spLocks noGrp="1"/>
          </p:cNvSpPr>
          <p:nvPr>
            <p:ph type="pic" sz="quarter" idx="14"/>
          </p:nvPr>
        </p:nvSpPr>
        <p:spPr>
          <a:xfrm>
            <a:off x="6749750" y="1227600"/>
            <a:ext cx="1854000" cy="1544402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Bildplatzhalter 8"/>
          <p:cNvSpPr>
            <a:spLocks noGrp="1"/>
          </p:cNvSpPr>
          <p:nvPr>
            <p:ph type="pic" sz="quarter" idx="15"/>
          </p:nvPr>
        </p:nvSpPr>
        <p:spPr>
          <a:xfrm>
            <a:off x="6750000" y="2987115"/>
            <a:ext cx="1854000" cy="1544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Bildplatzhalter 8"/>
          <p:cNvSpPr>
            <a:spLocks noGrp="1"/>
          </p:cNvSpPr>
          <p:nvPr>
            <p:ph type="pic" sz="quarter" idx="16"/>
          </p:nvPr>
        </p:nvSpPr>
        <p:spPr>
          <a:xfrm>
            <a:off x="4678113" y="2987115"/>
            <a:ext cx="1854000" cy="15444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7"/>
          </p:nvPr>
        </p:nvSpPr>
        <p:spPr>
          <a:xfrm>
            <a:off x="540000" y="1188000"/>
            <a:ext cx="3923750" cy="35100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13" name="Gerade Verbindung 12"/>
          <p:cNvCxnSpPr/>
          <p:nvPr userDrawn="1"/>
        </p:nvCxnSpPr>
        <p:spPr>
          <a:xfrm>
            <a:off x="540000" y="100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/>
          <p:cNvCxnSpPr/>
          <p:nvPr userDrawn="1"/>
        </p:nvCxnSpPr>
        <p:spPr>
          <a:xfrm>
            <a:off x="539750" y="4788000"/>
            <a:ext cx="540000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6122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M: ganzseitig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0" y="1080000"/>
            <a:ext cx="9144000" cy="3672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Bildfolie</a:t>
            </a:r>
            <a:br>
              <a:rPr lang="de-DE" dirty="0"/>
            </a:br>
            <a:r>
              <a:rPr lang="de-DE" dirty="0"/>
              <a:t>Folie mit nur einem Bild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6"/>
          <p:cNvSpPr>
            <a:spLocks noGrp="1"/>
          </p:cNvSpPr>
          <p:nvPr>
            <p:ph type="pic" sz="quarter" idx="14"/>
          </p:nvPr>
        </p:nvSpPr>
        <p:spPr>
          <a:xfrm>
            <a:off x="0" y="987574"/>
            <a:ext cx="9144000" cy="3818426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84025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40000" y="270000"/>
            <a:ext cx="6822000" cy="7175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Überschrift</a:t>
            </a:r>
            <a:br>
              <a:rPr lang="de-DE" dirty="0"/>
            </a:br>
            <a:r>
              <a:rPr lang="de-DE" dirty="0" err="1"/>
              <a:t>Verdana</a:t>
            </a:r>
            <a:r>
              <a:rPr lang="de-DE" dirty="0"/>
              <a:t> </a:t>
            </a:r>
            <a:r>
              <a:rPr lang="de-DE" dirty="0" err="1"/>
              <a:t>Bold</a:t>
            </a:r>
            <a:r>
              <a:rPr lang="de-DE" dirty="0"/>
              <a:t>, 19 </a:t>
            </a:r>
            <a:r>
              <a:rPr lang="de-DE" dirty="0" err="1"/>
              <a:t>pt</a:t>
            </a:r>
            <a:r>
              <a:rPr lang="de-DE" dirty="0"/>
              <a:t>, ZAB 25 </a:t>
            </a:r>
            <a:r>
              <a:rPr lang="de-DE" dirty="0" err="1"/>
              <a:t>pt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40000" y="1152000"/>
            <a:ext cx="6822000" cy="35460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540000" y="4878000"/>
            <a:ext cx="90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10.02.2017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02000" y="4878000"/>
            <a:ext cx="576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 dirty="0"/>
              <a:t>Thema der Präsentation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884000" y="4878000"/>
            <a:ext cx="720000" cy="18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A9ED74F-9508-4ED9-B334-15F84E4ED6ED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00" y="180000"/>
            <a:ext cx="1255743" cy="89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36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4" r:id="rId5"/>
    <p:sldLayoutId id="2147483674" r:id="rId6"/>
    <p:sldLayoutId id="2147483672" r:id="rId7"/>
    <p:sldLayoutId id="2147483671" r:id="rId8"/>
    <p:sldLayoutId id="2147483670" r:id="rId9"/>
    <p:sldLayoutId id="2147483669" r:id="rId10"/>
    <p:sldLayoutId id="2147483673" r:id="rId11"/>
    <p:sldLayoutId id="2147483666" r:id="rId12"/>
    <p:sldLayoutId id="2147483665" r:id="rId13"/>
    <p:sldLayoutId id="2147483667" r:id="rId14"/>
    <p:sldLayoutId id="2147483654" r:id="rId15"/>
  </p:sldLayoutIdLst>
  <p:hf hdr="0"/>
  <p:txStyles>
    <p:titleStyle>
      <a:lvl1pPr algn="l" defTabSz="914400" rtl="0" eaLnBrk="1" latinLnBrk="0" hangingPunct="1">
        <a:lnSpc>
          <a:spcPts val="2500"/>
        </a:lnSpc>
        <a:spcBef>
          <a:spcPct val="0"/>
        </a:spcBef>
        <a:buNone/>
        <a:defRPr sz="1900" b="1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2100"/>
        </a:lnSpc>
        <a:spcBef>
          <a:spcPts val="0"/>
        </a:spcBef>
        <a:buFontTx/>
        <a:buNone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360000" indent="-360000" algn="l" defTabSz="914400" rtl="0" eaLnBrk="1" latinLnBrk="0" hangingPunct="1">
        <a:lnSpc>
          <a:spcPts val="2100"/>
        </a:lnSpc>
        <a:spcBef>
          <a:spcPts val="0"/>
        </a:spcBef>
        <a:buFont typeface=".AppleSystemUIFont" charset="-120"/>
        <a:buChar char="–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360000" indent="-360000" algn="l" defTabSz="914400" rtl="0" eaLnBrk="1" latinLnBrk="0" hangingPunct="1">
        <a:lnSpc>
          <a:spcPts val="2100"/>
        </a:lnSpc>
        <a:spcBef>
          <a:spcPts val="0"/>
        </a:spcBef>
        <a:buFont typeface="+mj-lt"/>
        <a:buAutoNum type="arabicPeriod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630000" indent="-270000" algn="l" defTabSz="914400" rtl="0" eaLnBrk="1" latinLnBrk="0" hangingPunct="1">
        <a:lnSpc>
          <a:spcPts val="2100"/>
        </a:lnSpc>
        <a:spcBef>
          <a:spcPts val="0"/>
        </a:spcBef>
        <a:buFont typeface=".AppleSystemUIFont" charset="-120"/>
        <a:buChar char="–"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900000" indent="-270000" algn="l" defTabSz="914400" rtl="0" eaLnBrk="1" latinLnBrk="0" hangingPunct="1">
        <a:lnSpc>
          <a:spcPts val="2100"/>
        </a:lnSpc>
        <a:spcBef>
          <a:spcPts val="0"/>
        </a:spcBef>
        <a:buFont typeface=".AppleSystemUIFont" charset="-120"/>
        <a:buChar char="–"/>
        <a:tabLst/>
        <a:defRPr sz="1600" kern="120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denlabs/cheatsheet/blob/main/git-switch" TargetMode="External"/><Relationship Id="rId2" Type="http://schemas.openxmlformats.org/officeDocument/2006/relationships/hyperlink" Target="https://git-scm.com/cheat-sheet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learngitbranching.js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72E0C-A9DA-C54F-81D1-9EBF6CB7D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C3F259-51CA-0A25-C5D3-FA99B8987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 for today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3A3EA21-47DB-1628-C957-DE91E817635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Introduction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Version Control. Why, </a:t>
            </a:r>
            <a:r>
              <a:rPr lang="de-DE" dirty="0" err="1"/>
              <a:t>what</a:t>
            </a:r>
            <a:r>
              <a:rPr lang="de-DE" dirty="0"/>
              <a:t>, </a:t>
            </a:r>
            <a:r>
              <a:rPr lang="de-DE" dirty="0" err="1"/>
              <a:t>where</a:t>
            </a:r>
            <a:r>
              <a:rPr lang="de-DE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Installing</a:t>
            </a:r>
            <a:r>
              <a:rPr lang="de-DE" dirty="0"/>
              <a:t> </a:t>
            </a:r>
            <a:r>
              <a:rPr lang="de-DE" dirty="0" err="1"/>
              <a:t>git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Initializing</a:t>
            </a:r>
            <a:r>
              <a:rPr lang="de-DE" dirty="0"/>
              <a:t> a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in a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directory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Go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useful</a:t>
            </a:r>
            <a:r>
              <a:rPr lang="de-DE" dirty="0"/>
              <a:t> </a:t>
            </a:r>
            <a:r>
              <a:rPr lang="de-DE" dirty="0" err="1"/>
              <a:t>commands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Best </a:t>
            </a:r>
            <a:r>
              <a:rPr lang="de-DE" dirty="0" err="1"/>
              <a:t>practices</a:t>
            </a:r>
            <a:r>
              <a:rPr lang="de-DE" dirty="0"/>
              <a:t>, </a:t>
            </a:r>
            <a:r>
              <a:rPr lang="de-DE" i="1" dirty="0"/>
              <a:t>.</a:t>
            </a:r>
            <a:r>
              <a:rPr lang="de-DE" i="1" dirty="0" err="1"/>
              <a:t>git</a:t>
            </a:r>
            <a:r>
              <a:rPr lang="de-DE" dirty="0"/>
              <a:t>,</a:t>
            </a:r>
            <a:r>
              <a:rPr lang="de-DE" i="1" dirty="0"/>
              <a:t> </a:t>
            </a:r>
            <a:r>
              <a:rPr lang="de-DE" dirty="0"/>
              <a:t>and </a:t>
            </a:r>
            <a:r>
              <a:rPr lang="de-DE" i="1" dirty="0"/>
              <a:t>.</a:t>
            </a:r>
            <a:r>
              <a:rPr lang="de-DE" i="1" dirty="0" err="1"/>
              <a:t>gitconfig</a:t>
            </a:r>
            <a:endParaRPr lang="de-DE" i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2866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Version Control?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>
          <a:xfrm>
            <a:off x="539750" y="1920240"/>
            <a:ext cx="8064250" cy="277776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Record</a:t>
            </a:r>
            <a:r>
              <a:rPr lang="de-DE" dirty="0"/>
              <a:t> </a:t>
            </a:r>
            <a:r>
              <a:rPr lang="de-DE" dirty="0" err="1"/>
              <a:t>changes</a:t>
            </a:r>
            <a:r>
              <a:rPr lang="de-DE" dirty="0"/>
              <a:t> to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going</a:t>
            </a:r>
            <a:r>
              <a:rPr lang="de-DE" dirty="0"/>
              <a:t> back to </a:t>
            </a:r>
            <a:r>
              <a:rPr lang="de-DE" dirty="0" err="1"/>
              <a:t>earlier</a:t>
            </a:r>
            <a:r>
              <a:rPr lang="de-DE" dirty="0"/>
              <a:t> </a:t>
            </a:r>
            <a:r>
              <a:rPr lang="de-DE" dirty="0" err="1"/>
              <a:t>states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Allows</a:t>
            </a:r>
            <a:r>
              <a:rPr lang="de-DE" dirty="0"/>
              <a:t> easy and safe </a:t>
            </a:r>
            <a:r>
              <a:rPr lang="de-DE" dirty="0" err="1"/>
              <a:t>collaboration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7" name="Inhaltsplatzhalter 1"/>
          <p:cNvSpPr txBox="1">
            <a:spLocks/>
          </p:cNvSpPr>
          <p:nvPr/>
        </p:nvSpPr>
        <p:spPr>
          <a:xfrm>
            <a:off x="-2370177" y="-1780403"/>
            <a:ext cx="6480000" cy="32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34349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6A51A-0CC7-F2EA-2971-C9912004E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82D481-C57D-7FC9-4205-407D09597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Why </a:t>
            </a:r>
            <a:r>
              <a:rPr lang="de-DE" dirty="0" err="1"/>
              <a:t>is</a:t>
            </a:r>
            <a:r>
              <a:rPr lang="de-DE" dirty="0"/>
              <a:t> Version Control </a:t>
            </a:r>
            <a:r>
              <a:rPr lang="de-DE" dirty="0" err="1"/>
              <a:t>useful</a:t>
            </a:r>
            <a:r>
              <a:rPr lang="de-DE" dirty="0"/>
              <a:t>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3B98C8B-24B2-C319-9827-ECBC939A45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1221109"/>
            <a:ext cx="8064250" cy="3546001"/>
          </a:xfrm>
        </p:spPr>
        <p:txBody>
          <a:bodyPr/>
          <a:lstStyle/>
          <a:p>
            <a:r>
              <a:rPr lang="en-US" dirty="0"/>
              <a:t>Without version control, common problems are: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final.py, final_v2.py, final_really_final.py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uncertainty about who changed what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difficulty returning to a known working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accidental overwriting of someone else's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clear record of why a change was made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Git solves these problems locally, and e.g. GitHub adds a shared online space for collaboration.</a:t>
            </a:r>
            <a:endParaRPr lang="de-DE" dirty="0"/>
          </a:p>
          <a:p>
            <a:endParaRPr lang="de-DE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 dirty="0" err="1"/>
              <a:t>Recommendation</a:t>
            </a:r>
            <a:r>
              <a:rPr lang="de-DE" dirty="0"/>
              <a:t>: Use it </a:t>
            </a:r>
            <a:r>
              <a:rPr lang="de-DE" dirty="0" err="1"/>
              <a:t>everytime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start</a:t>
            </a:r>
            <a:r>
              <a:rPr lang="de-DE" dirty="0"/>
              <a:t> a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coding</a:t>
            </a:r>
            <a:r>
              <a:rPr lang="de-DE" dirty="0"/>
              <a:t> </a:t>
            </a:r>
            <a:r>
              <a:rPr lang="de-DE" dirty="0" err="1"/>
              <a:t>project</a:t>
            </a:r>
            <a:endParaRPr lang="de-DE" dirty="0"/>
          </a:p>
          <a:p>
            <a:endParaRPr lang="de-DE" dirty="0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31793FBE-282C-95C9-AEB9-F0FB7953E1CE}"/>
              </a:ext>
            </a:extLst>
          </p:cNvPr>
          <p:cNvSpPr txBox="1">
            <a:spLocks/>
          </p:cNvSpPr>
          <p:nvPr/>
        </p:nvSpPr>
        <p:spPr>
          <a:xfrm>
            <a:off x="-2370177" y="-1780403"/>
            <a:ext cx="6480000" cy="32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97295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FEB8A-2ADD-8F44-A0F2-2ADD0F9FF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11A154-AAE3-CA51-E158-439C23FA2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Version Control in </a:t>
            </a:r>
            <a:r>
              <a:rPr lang="de-DE" dirty="0" err="1"/>
              <a:t>coding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5D1D837-C009-6108-F088-D6C817D01D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000" y="1062294"/>
            <a:ext cx="8064250" cy="35460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In </a:t>
            </a:r>
            <a:r>
              <a:rPr lang="de-DE" dirty="0" err="1"/>
              <a:t>coding</a:t>
            </a:r>
            <a:r>
              <a:rPr lang="de-DE" dirty="0"/>
              <a:t>,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normaly</a:t>
            </a:r>
            <a:r>
              <a:rPr lang="de-DE" dirty="0"/>
              <a:t> </a:t>
            </a:r>
            <a:r>
              <a:rPr lang="de-DE" dirty="0" err="1"/>
              <a:t>come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</a:t>
            </a:r>
            <a:r>
              <a:rPr lang="de-DE" b="1" dirty="0" err="1"/>
              <a:t>Git</a:t>
            </a:r>
            <a:r>
              <a:rPr lang="de-DE" dirty="0"/>
              <a:t> as the Version Control </a:t>
            </a:r>
            <a:r>
              <a:rPr lang="de-DE" dirty="0" err="1"/>
              <a:t>tool</a:t>
            </a:r>
            <a:endParaRPr lang="de-DE" dirty="0"/>
          </a:p>
          <a:p>
            <a:pPr>
              <a:lnSpc>
                <a:spcPct val="100000"/>
              </a:lnSpc>
            </a:pPr>
            <a:r>
              <a:rPr lang="de-DE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You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GitHub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Gitlab</a:t>
            </a:r>
            <a:r>
              <a:rPr lang="de-DE" dirty="0"/>
              <a:t>, but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useful</a:t>
            </a:r>
            <a:r>
              <a:rPr lang="de-DE" dirty="0"/>
              <a:t> for </a:t>
            </a:r>
            <a:r>
              <a:rPr lang="de-DE" dirty="0" err="1"/>
              <a:t>sharing</a:t>
            </a:r>
            <a:r>
              <a:rPr lang="de-DE" dirty="0"/>
              <a:t>, </a:t>
            </a:r>
            <a:r>
              <a:rPr lang="de-DE" dirty="0" err="1"/>
              <a:t>collaborating</a:t>
            </a:r>
            <a:r>
              <a:rPr lang="de-DE" dirty="0"/>
              <a:t>, </a:t>
            </a:r>
            <a:r>
              <a:rPr lang="de-DE" dirty="0" err="1"/>
              <a:t>reviewing</a:t>
            </a:r>
            <a:r>
              <a:rPr lang="de-DE" dirty="0"/>
              <a:t> </a:t>
            </a:r>
            <a:r>
              <a:rPr lang="de-DE" dirty="0" err="1"/>
              <a:t>changes</a:t>
            </a:r>
            <a:r>
              <a:rPr lang="de-DE" dirty="0"/>
              <a:t>, publish </a:t>
            </a:r>
            <a:r>
              <a:rPr lang="de-DE" dirty="0" err="1"/>
              <a:t>documentation</a:t>
            </a:r>
            <a:r>
              <a:rPr lang="de-DE" dirty="0"/>
              <a:t>,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7C343359-1F1D-D8EB-C9C9-9E638C0129A0}"/>
              </a:ext>
            </a:extLst>
          </p:cNvPr>
          <p:cNvSpPr txBox="1">
            <a:spLocks/>
          </p:cNvSpPr>
          <p:nvPr/>
        </p:nvSpPr>
        <p:spPr>
          <a:xfrm>
            <a:off x="-2370177" y="-1780403"/>
            <a:ext cx="6480000" cy="32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3BDEDAB9-8E34-5C74-C01D-2337E090D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1028"/>
              </p:ext>
            </p:extLst>
          </p:nvPr>
        </p:nvGraphicFramePr>
        <p:xfrm>
          <a:off x="539748" y="2486176"/>
          <a:ext cx="8064250" cy="23586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3356">
                  <a:extLst>
                    <a:ext uri="{9D8B030D-6E8A-4147-A177-3AD203B41FA5}">
                      <a16:colId xmlns:a16="http://schemas.microsoft.com/office/drawing/2014/main" val="983081960"/>
                    </a:ext>
                  </a:extLst>
                </a:gridCol>
                <a:gridCol w="2730447">
                  <a:extLst>
                    <a:ext uri="{9D8B030D-6E8A-4147-A177-3AD203B41FA5}">
                      <a16:colId xmlns:a16="http://schemas.microsoft.com/office/drawing/2014/main" val="4158662676"/>
                    </a:ext>
                  </a:extLst>
                </a:gridCol>
                <a:gridCol w="2730447">
                  <a:extLst>
                    <a:ext uri="{9D8B030D-6E8A-4147-A177-3AD203B41FA5}">
                      <a16:colId xmlns:a16="http://schemas.microsoft.com/office/drawing/2014/main" val="3165777837"/>
                    </a:ext>
                  </a:extLst>
                </a:gridCol>
              </a:tblGrid>
              <a:tr h="377514">
                <a:tc>
                  <a:txBody>
                    <a:bodyPr/>
                    <a:lstStyle/>
                    <a:p>
                      <a:r>
                        <a:rPr lang="en-GB" b="1" u="none" dirty="0"/>
                        <a:t>Git</a:t>
                      </a:r>
                      <a:r>
                        <a:rPr lang="en-GB" b="0" u="none" dirty="0"/>
                        <a:t> (</a:t>
                      </a:r>
                      <a:r>
                        <a:rPr lang="de-DE" sz="1800" b="0" i="0" u="non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Linus Torvalds)</a:t>
                      </a:r>
                      <a:endParaRPr lang="en-GB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GitHub</a:t>
                      </a:r>
                      <a:r>
                        <a:rPr lang="en-GB" b="0" dirty="0"/>
                        <a:t> (Microsoft)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Gitlab </a:t>
                      </a:r>
                      <a:r>
                        <a:rPr lang="en-GB" b="0" dirty="0"/>
                        <a:t>(</a:t>
                      </a:r>
                      <a:r>
                        <a:rPr lang="de-DE" sz="1800" b="0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GitLab</a:t>
                      </a:r>
                      <a:r>
                        <a:rPr lang="de-DE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Inc.)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700797"/>
                  </a:ext>
                </a:extLst>
              </a:tr>
              <a:tr h="594467">
                <a:tc>
                  <a:txBody>
                    <a:bodyPr/>
                    <a:lstStyle/>
                    <a:p>
                      <a:r>
                        <a:rPr lang="de-DE" sz="1400" dirty="0"/>
                        <a:t>Version-</a:t>
                      </a:r>
                      <a:r>
                        <a:rPr lang="de-DE" sz="1400" dirty="0" err="1"/>
                        <a:t>control</a:t>
                      </a:r>
                      <a:r>
                        <a:rPr lang="de-DE" sz="1400" dirty="0"/>
                        <a:t> </a:t>
                      </a:r>
                      <a:r>
                        <a:rPr lang="de-DE" sz="1400" dirty="0" err="1"/>
                        <a:t>software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Git hosting and collaboration platform</a:t>
                      </a:r>
                      <a:endParaRPr lang="de-D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dirty="0" err="1"/>
                        <a:t>Git</a:t>
                      </a:r>
                      <a:r>
                        <a:rPr lang="de-DE" sz="1400" dirty="0"/>
                        <a:t> </a:t>
                      </a:r>
                      <a:r>
                        <a:rPr lang="de-DE" sz="1400" dirty="0" err="1"/>
                        <a:t>hosting</a:t>
                      </a:r>
                      <a:r>
                        <a:rPr lang="de-DE" sz="1400" dirty="0"/>
                        <a:t> and DevOps </a:t>
                      </a:r>
                      <a:r>
                        <a:rPr lang="de-DE" sz="1400" dirty="0" err="1"/>
                        <a:t>platform</a:t>
                      </a:r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9352533"/>
                  </a:ext>
                </a:extLst>
              </a:tr>
              <a:tr h="377514">
                <a:tc>
                  <a:txBody>
                    <a:bodyPr/>
                    <a:lstStyle/>
                    <a:p>
                      <a:r>
                        <a:rPr lang="en-GB" sz="1400" dirty="0"/>
                        <a:t>Runs locally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dirty="0" err="1"/>
                        <a:t>Mainly</a:t>
                      </a:r>
                      <a:r>
                        <a:rPr lang="de-DE" sz="1400" dirty="0"/>
                        <a:t> </a:t>
                      </a:r>
                      <a:r>
                        <a:rPr lang="de-DE" sz="1400" dirty="0" err="1"/>
                        <a:t>hosted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dirty="0" err="1"/>
                        <a:t>Hosted</a:t>
                      </a:r>
                      <a:r>
                        <a:rPr lang="de-DE" sz="1400" dirty="0"/>
                        <a:t> </a:t>
                      </a:r>
                      <a:r>
                        <a:rPr lang="de-DE" sz="1400" dirty="0" err="1"/>
                        <a:t>or</a:t>
                      </a:r>
                      <a:r>
                        <a:rPr lang="de-DE" sz="1400" dirty="0"/>
                        <a:t> </a:t>
                      </a:r>
                      <a:r>
                        <a:rPr lang="de-DE" sz="1400" dirty="0" err="1"/>
                        <a:t>self-hosted</a:t>
                      </a:r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52155"/>
                  </a:ext>
                </a:extLst>
              </a:tr>
              <a:tr h="456110">
                <a:tc>
                  <a:txBody>
                    <a:bodyPr/>
                    <a:lstStyle/>
                    <a:p>
                      <a:r>
                        <a:rPr lang="en-GB" sz="1400" dirty="0"/>
                        <a:t>No internet needed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Internet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Internet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079264"/>
                  </a:ext>
                </a:extLst>
              </a:tr>
              <a:tr h="553064">
                <a:tc>
                  <a:txBody>
                    <a:bodyPr/>
                    <a:lstStyle/>
                    <a:p>
                      <a:r>
                        <a:rPr lang="en-GB" sz="1400" dirty="0"/>
                        <a:t>Basic Git 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Pull </a:t>
                      </a:r>
                      <a:r>
                        <a:rPr lang="de-DE" sz="1400" dirty="0" err="1"/>
                        <a:t>requests</a:t>
                      </a:r>
                      <a:r>
                        <a:rPr lang="de-DE" sz="1400" dirty="0"/>
                        <a:t>, </a:t>
                      </a:r>
                      <a:r>
                        <a:rPr lang="de-DE" sz="1400" dirty="0" err="1"/>
                        <a:t>issues</a:t>
                      </a:r>
                      <a:r>
                        <a:rPr lang="de-DE" sz="1400" dirty="0"/>
                        <a:t>, Actions … 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Merge </a:t>
                      </a:r>
                      <a:r>
                        <a:rPr lang="de-DE" sz="1400" dirty="0" err="1"/>
                        <a:t>requests</a:t>
                      </a:r>
                      <a:r>
                        <a:rPr lang="de-DE" sz="1400" dirty="0"/>
                        <a:t>, </a:t>
                      </a:r>
                      <a:r>
                        <a:rPr lang="de-DE" sz="1400" dirty="0" err="1"/>
                        <a:t>issues</a:t>
                      </a:r>
                      <a:r>
                        <a:rPr lang="de-DE" sz="1400" dirty="0"/>
                        <a:t>, </a:t>
                      </a:r>
                      <a:r>
                        <a:rPr lang="de-DE" sz="1400" dirty="0" err="1"/>
                        <a:t>integrated</a:t>
                      </a:r>
                      <a:r>
                        <a:rPr lang="de-DE" sz="1400" dirty="0"/>
                        <a:t> DevOps </a:t>
                      </a:r>
                      <a:r>
                        <a:rPr lang="de-DE" sz="1400" dirty="0" err="1"/>
                        <a:t>toolset</a:t>
                      </a:r>
                      <a:r>
                        <a:rPr lang="de-DE" sz="1400" dirty="0"/>
                        <a:t> …</a:t>
                      </a:r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71471"/>
                  </a:ext>
                </a:extLst>
              </a:tr>
            </a:tbl>
          </a:graphicData>
        </a:graphic>
      </p:graphicFrame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8E241DBB-840F-DF4B-73DB-999A7372496F}"/>
              </a:ext>
            </a:extLst>
          </p:cNvPr>
          <p:cNvCxnSpPr>
            <a:cxnSpLocks/>
          </p:cNvCxnSpPr>
          <p:nvPr/>
        </p:nvCxnSpPr>
        <p:spPr>
          <a:xfrm>
            <a:off x="4571625" y="2336114"/>
            <a:ext cx="0" cy="13482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1668AD9-759A-4532-8195-74D3E3852276}"/>
              </a:ext>
            </a:extLst>
          </p:cNvPr>
          <p:cNvCxnSpPr>
            <a:cxnSpLocks/>
          </p:cNvCxnSpPr>
          <p:nvPr/>
        </p:nvCxnSpPr>
        <p:spPr>
          <a:xfrm>
            <a:off x="7362000" y="2334945"/>
            <a:ext cx="0" cy="13482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1A79F73C-B2AA-37B5-E7D5-E9CCA82F91E8}"/>
              </a:ext>
            </a:extLst>
          </p:cNvPr>
          <p:cNvCxnSpPr>
            <a:cxnSpLocks/>
          </p:cNvCxnSpPr>
          <p:nvPr/>
        </p:nvCxnSpPr>
        <p:spPr>
          <a:xfrm flipH="1">
            <a:off x="1676150" y="2336114"/>
            <a:ext cx="5685850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D6A7B0B2-843A-4547-CC91-291D0A2246B8}"/>
              </a:ext>
            </a:extLst>
          </p:cNvPr>
          <p:cNvCxnSpPr>
            <a:cxnSpLocks/>
          </p:cNvCxnSpPr>
          <p:nvPr/>
        </p:nvCxnSpPr>
        <p:spPr>
          <a:xfrm>
            <a:off x="1676150" y="2336114"/>
            <a:ext cx="0" cy="134822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51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04B91-C5DE-5627-CBB2-F50300A11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604DC3-CB2A-F1F1-B5B2-7ED51376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Git</a:t>
            </a:r>
            <a:r>
              <a:rPr lang="de-DE" dirty="0"/>
              <a:t> the </a:t>
            </a:r>
            <a:r>
              <a:rPr lang="de-DE" dirty="0" err="1"/>
              <a:t>vocabulary</a:t>
            </a:r>
            <a:r>
              <a:rPr lang="de-DE" dirty="0"/>
              <a:t> and </a:t>
            </a:r>
            <a:r>
              <a:rPr lang="de-DE" dirty="0" err="1"/>
              <a:t>visualization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586E1AC-7C32-2A4D-6E9E-A0028797F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2F90E64-8FC8-5473-B938-5A74E9539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DEDD80D-C728-EEDD-7888-CBED8578B7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384" y="997690"/>
            <a:ext cx="8064250" cy="1959309"/>
          </a:xfrm>
        </p:spPr>
        <p:txBody>
          <a:bodyPr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b="1" dirty="0"/>
              <a:t>Repository</a:t>
            </a:r>
            <a:r>
              <a:rPr lang="de-DE" sz="1400" dirty="0"/>
              <a:t> </a:t>
            </a:r>
            <a:r>
              <a:rPr lang="de-DE" sz="1400" dirty="0" err="1"/>
              <a:t>is</a:t>
            </a:r>
            <a:r>
              <a:rPr lang="de-DE" sz="1400" dirty="0"/>
              <a:t> the </a:t>
            </a:r>
            <a:r>
              <a:rPr lang="de-DE" sz="1400" dirty="0" err="1"/>
              <a:t>project</a:t>
            </a:r>
            <a:r>
              <a:rPr lang="de-DE" sz="1400" dirty="0"/>
              <a:t> plus </a:t>
            </a:r>
            <a:r>
              <a:rPr lang="de-DE" sz="1400" dirty="0" err="1"/>
              <a:t>its</a:t>
            </a:r>
            <a:r>
              <a:rPr lang="de-DE" sz="1400" dirty="0"/>
              <a:t> </a:t>
            </a:r>
            <a:r>
              <a:rPr lang="de-DE" sz="1400" dirty="0" err="1"/>
              <a:t>history</a:t>
            </a:r>
            <a:endParaRPr lang="de-DE" sz="14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b="1" dirty="0"/>
              <a:t>Commit</a:t>
            </a:r>
            <a:r>
              <a:rPr lang="de-DE" sz="1400" dirty="0"/>
              <a:t> </a:t>
            </a:r>
            <a:r>
              <a:rPr lang="de-DE" sz="1400" dirty="0" err="1"/>
              <a:t>is</a:t>
            </a:r>
            <a:r>
              <a:rPr lang="de-DE" sz="1400" dirty="0"/>
              <a:t> a </a:t>
            </a:r>
            <a:r>
              <a:rPr lang="de-DE" sz="1400" dirty="0" err="1"/>
              <a:t>saved</a:t>
            </a:r>
            <a:r>
              <a:rPr lang="de-DE" sz="1400" dirty="0"/>
              <a:t> </a:t>
            </a:r>
            <a:r>
              <a:rPr lang="de-DE" sz="1400" dirty="0" err="1"/>
              <a:t>checkpoint</a:t>
            </a:r>
            <a:r>
              <a:rPr lang="de-DE" sz="1400" dirty="0"/>
              <a:t>/</a:t>
            </a:r>
            <a:r>
              <a:rPr lang="de-DE" sz="1400" dirty="0" err="1"/>
              <a:t>snapshot</a:t>
            </a:r>
            <a:r>
              <a:rPr lang="de-DE" sz="1400" dirty="0"/>
              <a:t> of </a:t>
            </a:r>
            <a:r>
              <a:rPr lang="de-DE" sz="1400" dirty="0" err="1"/>
              <a:t>current</a:t>
            </a:r>
            <a:r>
              <a:rPr lang="de-DE" sz="1400" dirty="0"/>
              <a:t> </a:t>
            </a:r>
            <a:r>
              <a:rPr lang="de-DE" sz="1400" dirty="0" err="1"/>
              <a:t>work</a:t>
            </a:r>
            <a:endParaRPr lang="de-DE" sz="14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b="1" dirty="0"/>
              <a:t>Branch</a:t>
            </a:r>
            <a:r>
              <a:rPr lang="de-DE" sz="1400" dirty="0"/>
              <a:t> </a:t>
            </a:r>
            <a:r>
              <a:rPr lang="de-DE" sz="1400" dirty="0" err="1"/>
              <a:t>is</a:t>
            </a:r>
            <a:r>
              <a:rPr lang="de-DE" sz="1400" dirty="0"/>
              <a:t> a separate </a:t>
            </a:r>
            <a:r>
              <a:rPr lang="de-DE" sz="1400" dirty="0" err="1"/>
              <a:t>line</a:t>
            </a:r>
            <a:r>
              <a:rPr lang="de-DE" sz="1400" dirty="0"/>
              <a:t> of </a:t>
            </a:r>
            <a:r>
              <a:rPr lang="de-DE" sz="1400" dirty="0" err="1"/>
              <a:t>work</a:t>
            </a:r>
            <a:endParaRPr lang="de-DE" sz="14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b="1" dirty="0"/>
              <a:t>Merge</a:t>
            </a:r>
            <a:r>
              <a:rPr lang="de-DE" sz="1400" dirty="0"/>
              <a:t> </a:t>
            </a:r>
            <a:r>
              <a:rPr lang="de-DE" sz="1400" dirty="0" err="1"/>
              <a:t>brings</a:t>
            </a:r>
            <a:r>
              <a:rPr lang="de-DE" sz="1400" dirty="0"/>
              <a:t> </a:t>
            </a:r>
            <a:r>
              <a:rPr lang="de-DE" sz="1400" dirty="0" err="1"/>
              <a:t>changes</a:t>
            </a:r>
            <a:r>
              <a:rPr lang="de-DE" sz="1400" dirty="0"/>
              <a:t> </a:t>
            </a:r>
            <a:r>
              <a:rPr lang="de-DE" sz="1400" dirty="0" err="1"/>
              <a:t>together</a:t>
            </a:r>
            <a:endParaRPr lang="de-DE" sz="14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b="1" dirty="0"/>
              <a:t>Tag</a:t>
            </a:r>
            <a:r>
              <a:rPr lang="de-DE" sz="1400" dirty="0"/>
              <a:t> </a:t>
            </a:r>
            <a:r>
              <a:rPr lang="de-DE" sz="1400" dirty="0" err="1"/>
              <a:t>marks</a:t>
            </a:r>
            <a:r>
              <a:rPr lang="de-DE" sz="1400" dirty="0"/>
              <a:t> an important </a:t>
            </a:r>
            <a:r>
              <a:rPr lang="de-DE" sz="1400" dirty="0" err="1"/>
              <a:t>version</a:t>
            </a:r>
            <a:endParaRPr lang="de-DE" sz="14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b="1" dirty="0"/>
              <a:t>Remote</a:t>
            </a:r>
            <a:r>
              <a:rPr lang="de-DE" sz="1400" dirty="0"/>
              <a:t> </a:t>
            </a:r>
            <a:r>
              <a:rPr lang="de-DE" sz="1400" dirty="0" err="1"/>
              <a:t>connects</a:t>
            </a:r>
            <a:r>
              <a:rPr lang="de-DE" sz="1400" dirty="0"/>
              <a:t> </a:t>
            </a:r>
            <a:r>
              <a:rPr lang="de-DE" sz="1400" dirty="0" err="1"/>
              <a:t>your</a:t>
            </a:r>
            <a:r>
              <a:rPr lang="de-DE" sz="1400" dirty="0"/>
              <a:t> </a:t>
            </a:r>
            <a:r>
              <a:rPr lang="de-DE" sz="1400" dirty="0" err="1"/>
              <a:t>local</a:t>
            </a:r>
            <a:r>
              <a:rPr lang="de-DE" sz="1400" dirty="0"/>
              <a:t> </a:t>
            </a:r>
            <a:r>
              <a:rPr lang="de-DE" sz="1400" dirty="0" err="1"/>
              <a:t>repository</a:t>
            </a:r>
            <a:r>
              <a:rPr lang="de-DE" sz="1400" dirty="0"/>
              <a:t> to a </a:t>
            </a:r>
            <a:r>
              <a:rPr lang="de-DE" sz="1400" dirty="0" err="1"/>
              <a:t>hosted</a:t>
            </a:r>
            <a:r>
              <a:rPr lang="de-DE" sz="1400" dirty="0"/>
              <a:t> </a:t>
            </a:r>
            <a:r>
              <a:rPr lang="de-DE" sz="1400" dirty="0" err="1"/>
              <a:t>one</a:t>
            </a:r>
            <a:r>
              <a:rPr lang="de-DE" sz="1400" dirty="0"/>
              <a:t> such as GitHub</a:t>
            </a:r>
          </a:p>
          <a:p>
            <a:endParaRPr lang="de-DE" sz="1400" dirty="0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DC4C0ABB-FC2D-9E45-655E-68B3EF31A94F}"/>
              </a:ext>
            </a:extLst>
          </p:cNvPr>
          <p:cNvSpPr txBox="1">
            <a:spLocks/>
          </p:cNvSpPr>
          <p:nvPr/>
        </p:nvSpPr>
        <p:spPr>
          <a:xfrm>
            <a:off x="-2370177" y="-1780403"/>
            <a:ext cx="6480000" cy="32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68BBE83-C80A-1EA5-852B-FFF312C9D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96" y="3033200"/>
            <a:ext cx="6553768" cy="207282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1ABC8808-2340-8946-20EF-662391C88485}"/>
              </a:ext>
            </a:extLst>
          </p:cNvPr>
          <p:cNvSpPr txBox="1"/>
          <p:nvPr/>
        </p:nvSpPr>
        <p:spPr>
          <a:xfrm>
            <a:off x="716175" y="3111367"/>
            <a:ext cx="8858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/>
              <a:t>Branch</a:t>
            </a:r>
            <a:endParaRPr lang="en-GB" sz="12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587AA2C-B80A-BEA6-5EDF-2F48BA656149}"/>
              </a:ext>
            </a:extLst>
          </p:cNvPr>
          <p:cNvSpPr txBox="1"/>
          <p:nvPr/>
        </p:nvSpPr>
        <p:spPr>
          <a:xfrm>
            <a:off x="1794087" y="3388484"/>
            <a:ext cx="12904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 err="1"/>
              <a:t>Commits</a:t>
            </a:r>
            <a:r>
              <a:rPr lang="de-DE" sz="1000" b="1" dirty="0"/>
              <a:t> A&amp;B</a:t>
            </a:r>
            <a:endParaRPr lang="en-GB" sz="11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B912484-FD17-78FF-DB98-959113F85EA3}"/>
              </a:ext>
            </a:extLst>
          </p:cNvPr>
          <p:cNvSpPr txBox="1"/>
          <p:nvPr/>
        </p:nvSpPr>
        <p:spPr>
          <a:xfrm>
            <a:off x="4784301" y="3372960"/>
            <a:ext cx="105928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Commit D</a:t>
            </a:r>
            <a:endParaRPr lang="en-GB" sz="11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FA6618A-90D2-10FA-A98E-3B4CF22EA72D}"/>
              </a:ext>
            </a:extLst>
          </p:cNvPr>
          <p:cNvSpPr txBox="1"/>
          <p:nvPr/>
        </p:nvSpPr>
        <p:spPr>
          <a:xfrm>
            <a:off x="190395" y="3886244"/>
            <a:ext cx="8858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/>
              <a:t>Branch</a:t>
            </a:r>
            <a:endParaRPr lang="en-GB" sz="12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A829ED8-5624-AB82-BD2D-0B9C403C6919}"/>
              </a:ext>
            </a:extLst>
          </p:cNvPr>
          <p:cNvSpPr txBox="1"/>
          <p:nvPr/>
        </p:nvSpPr>
        <p:spPr>
          <a:xfrm>
            <a:off x="190395" y="4661870"/>
            <a:ext cx="8858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/>
              <a:t>Branch</a:t>
            </a:r>
            <a:endParaRPr lang="en-GB" sz="120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E70849A-6648-D400-25B8-ED6B9F80A79B}"/>
              </a:ext>
            </a:extLst>
          </p:cNvPr>
          <p:cNvSpPr txBox="1"/>
          <p:nvPr/>
        </p:nvSpPr>
        <p:spPr>
          <a:xfrm>
            <a:off x="4342341" y="4841042"/>
            <a:ext cx="105928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Commit H1</a:t>
            </a:r>
            <a:endParaRPr lang="en-GB" sz="110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697753C-066B-5598-B044-AD402D4685E3}"/>
              </a:ext>
            </a:extLst>
          </p:cNvPr>
          <p:cNvSpPr txBox="1"/>
          <p:nvPr/>
        </p:nvSpPr>
        <p:spPr>
          <a:xfrm>
            <a:off x="5142441" y="4188338"/>
            <a:ext cx="105928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Commit F3</a:t>
            </a:r>
            <a:endParaRPr lang="en-GB" sz="1100" dirty="0"/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F5172783-5BED-D3CE-0226-9A82D362E447}"/>
              </a:ext>
            </a:extLst>
          </p:cNvPr>
          <p:cNvCxnSpPr/>
          <p:nvPr/>
        </p:nvCxnSpPr>
        <p:spPr>
          <a:xfrm>
            <a:off x="190395" y="2964620"/>
            <a:ext cx="870214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0E17B8BF-BB47-8568-D79D-F0D2AD0A8005}"/>
              </a:ext>
            </a:extLst>
          </p:cNvPr>
          <p:cNvSpPr txBox="1"/>
          <p:nvPr/>
        </p:nvSpPr>
        <p:spPr>
          <a:xfrm>
            <a:off x="5778509" y="2952959"/>
            <a:ext cx="105928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Merge</a:t>
            </a:r>
            <a:endParaRPr lang="en-GB" sz="1100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4C717730-D7C2-21C8-331E-F695452B8532}"/>
              </a:ext>
            </a:extLst>
          </p:cNvPr>
          <p:cNvSpPr txBox="1"/>
          <p:nvPr/>
        </p:nvSpPr>
        <p:spPr>
          <a:xfrm>
            <a:off x="4482000" y="2959839"/>
            <a:ext cx="105928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Merge</a:t>
            </a:r>
            <a:endParaRPr lang="en-GB" sz="1100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A6BB4E6A-B7AC-D005-987B-6C47A39A69A1}"/>
              </a:ext>
            </a:extLst>
          </p:cNvPr>
          <p:cNvSpPr txBox="1"/>
          <p:nvPr/>
        </p:nvSpPr>
        <p:spPr>
          <a:xfrm>
            <a:off x="7523961" y="3830646"/>
            <a:ext cx="14296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dirty="0"/>
              <a:t>Repository</a:t>
            </a:r>
            <a:endParaRPr lang="en-GB" sz="2000" dirty="0"/>
          </a:p>
        </p:txBody>
      </p:sp>
      <p:sp>
        <p:nvSpPr>
          <p:cNvPr id="27" name="Geschweifte Klammer rechts 26">
            <a:extLst>
              <a:ext uri="{FF2B5EF4-FFF2-40B4-BE49-F238E27FC236}">
                <a16:creationId xmlns:a16="http://schemas.microsoft.com/office/drawing/2014/main" id="{41F32A4B-2205-5757-BFA8-A1278EEFFF73}"/>
              </a:ext>
            </a:extLst>
          </p:cNvPr>
          <p:cNvSpPr/>
          <p:nvPr/>
        </p:nvSpPr>
        <p:spPr>
          <a:xfrm>
            <a:off x="7231380" y="3079917"/>
            <a:ext cx="292581" cy="1843563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0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3" grpId="0"/>
      <p:bldP spid="14" grpId="0"/>
      <p:bldP spid="15" grpId="0"/>
      <p:bldP spid="16" grpId="0"/>
      <p:bldP spid="17" grpId="0"/>
      <p:bldP spid="19" grpId="0"/>
      <p:bldP spid="20" grpId="0"/>
      <p:bldP spid="24" grpId="0"/>
      <p:bldP spid="25" grpId="0"/>
      <p:bldP spid="26" grpId="0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F7EC9-D4B9-BCF5-D055-A88F6F4AC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F38F3-64D2-1D9A-1C88-B1744C6E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Branches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important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ED648B5-6A8B-5B76-7D1A-12C623C832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1330325"/>
            <a:ext cx="8064250" cy="336767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Branches</a:t>
            </a:r>
            <a:r>
              <a:rPr lang="de-DE" dirty="0"/>
              <a:t> </a:t>
            </a:r>
            <a:r>
              <a:rPr lang="de-DE" dirty="0" err="1"/>
              <a:t>let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on a change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destabilizing</a:t>
            </a:r>
            <a:r>
              <a:rPr lang="de-DE" dirty="0"/>
              <a:t> the </a:t>
            </a:r>
            <a:r>
              <a:rPr lang="de-DE" dirty="0" err="1"/>
              <a:t>main</a:t>
            </a:r>
            <a:r>
              <a:rPr lang="de-DE" dirty="0"/>
              <a:t> </a:t>
            </a:r>
            <a:r>
              <a:rPr lang="de-DE" dirty="0" err="1"/>
              <a:t>line</a:t>
            </a:r>
            <a:r>
              <a:rPr lang="de-DE" dirty="0"/>
              <a:t> of </a:t>
            </a:r>
            <a:r>
              <a:rPr lang="de-DE" dirty="0" err="1"/>
              <a:t>development</a:t>
            </a:r>
            <a:endParaRPr lang="de-DE" dirty="0"/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8E806F8D-07D3-3270-DA27-B13AA4C07482}"/>
              </a:ext>
            </a:extLst>
          </p:cNvPr>
          <p:cNvSpPr txBox="1">
            <a:spLocks/>
          </p:cNvSpPr>
          <p:nvPr/>
        </p:nvSpPr>
        <p:spPr>
          <a:xfrm>
            <a:off x="-2370177" y="-1780403"/>
            <a:ext cx="6480000" cy="32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100"/>
              </a:lnSpc>
              <a:spcBef>
                <a:spcPts val="0"/>
              </a:spcBef>
              <a:buFontTx/>
              <a:buNone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6000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+mj-lt"/>
              <a:buAutoNum type="arabicPeriod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0" indent="-36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63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900000" indent="-270000" algn="l" defTabSz="914400" rtl="0" eaLnBrk="1" latinLnBrk="0" hangingPunct="1">
              <a:lnSpc>
                <a:spcPts val="2100"/>
              </a:lnSpc>
              <a:spcBef>
                <a:spcPts val="1000"/>
              </a:spcBef>
              <a:buFont typeface="Verdana" panose="020B0604030504040204" pitchFamily="34" charset="0"/>
              <a:buChar char="‒"/>
              <a:tabLst/>
              <a:defRPr sz="160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09BCD8F-BA9E-0BFF-1A5D-5727BC993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299" y="2571750"/>
            <a:ext cx="6553768" cy="207282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864D1106-6D3A-D0C7-4E81-139D0438557C}"/>
              </a:ext>
            </a:extLst>
          </p:cNvPr>
          <p:cNvSpPr txBox="1"/>
          <p:nvPr/>
        </p:nvSpPr>
        <p:spPr>
          <a:xfrm>
            <a:off x="716175" y="3432488"/>
            <a:ext cx="8858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/>
              <a:t>Branch</a:t>
            </a:r>
            <a:endParaRPr lang="en-GB" sz="120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51FFFAC-AA0B-C9FE-632B-84BB8588849F}"/>
              </a:ext>
            </a:extLst>
          </p:cNvPr>
          <p:cNvSpPr txBox="1"/>
          <p:nvPr/>
        </p:nvSpPr>
        <p:spPr>
          <a:xfrm>
            <a:off x="716175" y="3666348"/>
            <a:ext cx="220228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/>
              <a:t>Does not change </a:t>
            </a:r>
            <a:r>
              <a:rPr lang="de-DE" sz="1050" b="1" dirty="0" err="1"/>
              <a:t>anything</a:t>
            </a:r>
            <a:r>
              <a:rPr lang="de-DE" sz="1050" b="1" dirty="0"/>
              <a:t> in </a:t>
            </a:r>
            <a:r>
              <a:rPr lang="de-DE" sz="1050" b="1" dirty="0" err="1"/>
              <a:t>main</a:t>
            </a:r>
            <a:r>
              <a:rPr lang="de-DE" sz="1050" b="1" dirty="0"/>
              <a:t> </a:t>
            </a:r>
            <a:r>
              <a:rPr lang="de-DE" sz="1050" b="1" dirty="0" err="1"/>
              <a:t>until</a:t>
            </a:r>
            <a:r>
              <a:rPr lang="de-DE" sz="1050" b="1" dirty="0"/>
              <a:t> merged</a:t>
            </a:r>
            <a:endParaRPr lang="en-GB" sz="12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9251FF1-EE1E-257F-8AD3-ABF5A12F9404}"/>
              </a:ext>
            </a:extLst>
          </p:cNvPr>
          <p:cNvSpPr txBox="1"/>
          <p:nvPr/>
        </p:nvSpPr>
        <p:spPr>
          <a:xfrm>
            <a:off x="6380489" y="2444792"/>
            <a:ext cx="105928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b="1" dirty="0"/>
              <a:t>Merge</a:t>
            </a:r>
            <a:endParaRPr lang="en-GB" sz="1100" dirty="0"/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C7B19991-6353-F600-242A-B8EF0705E170}"/>
              </a:ext>
            </a:extLst>
          </p:cNvPr>
          <p:cNvSpPr/>
          <p:nvPr/>
        </p:nvSpPr>
        <p:spPr>
          <a:xfrm>
            <a:off x="632158" y="2331720"/>
            <a:ext cx="5890562" cy="1424940"/>
          </a:xfrm>
          <a:custGeom>
            <a:avLst/>
            <a:gdLst>
              <a:gd name="csX0" fmla="*/ 91742 w 5753402"/>
              <a:gd name="csY0" fmla="*/ 1501140 h 1501140"/>
              <a:gd name="csX1" fmla="*/ 302 w 5753402"/>
              <a:gd name="csY1" fmla="*/ 1394460 h 1501140"/>
              <a:gd name="csX2" fmla="*/ 388922 w 5753402"/>
              <a:gd name="csY2" fmla="*/ 556260 h 1501140"/>
              <a:gd name="csX3" fmla="*/ 1341422 w 5753402"/>
              <a:gd name="csY3" fmla="*/ 152400 h 1501140"/>
              <a:gd name="csX4" fmla="*/ 1813862 w 5753402"/>
              <a:gd name="csY4" fmla="*/ 15240 h 1501140"/>
              <a:gd name="csX5" fmla="*/ 2156762 w 5753402"/>
              <a:gd name="csY5" fmla="*/ 0 h 1501140"/>
              <a:gd name="csX6" fmla="*/ 5509562 w 5753402"/>
              <a:gd name="csY6" fmla="*/ 15240 h 1501140"/>
              <a:gd name="csX7" fmla="*/ 5562902 w 5753402"/>
              <a:gd name="csY7" fmla="*/ 30480 h 1501140"/>
              <a:gd name="csX8" fmla="*/ 5639102 w 5753402"/>
              <a:gd name="csY8" fmla="*/ 83820 h 1501140"/>
              <a:gd name="csX9" fmla="*/ 5707682 w 5753402"/>
              <a:gd name="csY9" fmla="*/ 129540 h 1501140"/>
              <a:gd name="csX10" fmla="*/ 5753402 w 5753402"/>
              <a:gd name="csY10" fmla="*/ 167640 h 15011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5753402" h="1501140">
                <a:moveTo>
                  <a:pt x="91742" y="1501140"/>
                </a:moveTo>
                <a:cubicBezTo>
                  <a:pt x="61262" y="1465580"/>
                  <a:pt x="-5016" y="1440992"/>
                  <a:pt x="302" y="1394460"/>
                </a:cubicBezTo>
                <a:cubicBezTo>
                  <a:pt x="59825" y="873636"/>
                  <a:pt x="38468" y="749614"/>
                  <a:pt x="388922" y="556260"/>
                </a:cubicBezTo>
                <a:cubicBezTo>
                  <a:pt x="766067" y="348180"/>
                  <a:pt x="935323" y="300866"/>
                  <a:pt x="1341422" y="152400"/>
                </a:cubicBezTo>
                <a:cubicBezTo>
                  <a:pt x="1499065" y="94767"/>
                  <a:pt x="1644877" y="36631"/>
                  <a:pt x="1813862" y="15240"/>
                </a:cubicBezTo>
                <a:cubicBezTo>
                  <a:pt x="1927369" y="872"/>
                  <a:pt x="2042462" y="5080"/>
                  <a:pt x="2156762" y="0"/>
                </a:cubicBezTo>
                <a:lnTo>
                  <a:pt x="5509562" y="15240"/>
                </a:lnTo>
                <a:cubicBezTo>
                  <a:pt x="5528053" y="15405"/>
                  <a:pt x="5546112" y="22731"/>
                  <a:pt x="5562902" y="30480"/>
                </a:cubicBezTo>
                <a:cubicBezTo>
                  <a:pt x="5585429" y="40877"/>
                  <a:pt x="5617377" y="68780"/>
                  <a:pt x="5639102" y="83820"/>
                </a:cubicBezTo>
                <a:cubicBezTo>
                  <a:pt x="5661691" y="99459"/>
                  <a:pt x="5688255" y="110113"/>
                  <a:pt x="5707682" y="129540"/>
                </a:cubicBezTo>
                <a:cubicBezTo>
                  <a:pt x="5737018" y="158876"/>
                  <a:pt x="5721576" y="146422"/>
                  <a:pt x="5753402" y="167640"/>
                </a:cubicBezTo>
              </a:path>
            </a:pathLst>
          </a:custGeom>
          <a:noFill/>
          <a:ln w="38100">
            <a:solidFill>
              <a:schemeClr val="accent1">
                <a:shade val="95000"/>
                <a:satMod val="105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D2D96CD7-0FF7-23FA-ED66-E2B7D42BEE88}"/>
              </a:ext>
            </a:extLst>
          </p:cNvPr>
          <p:cNvSpPr/>
          <p:nvPr/>
        </p:nvSpPr>
        <p:spPr>
          <a:xfrm>
            <a:off x="2918460" y="3291840"/>
            <a:ext cx="4168140" cy="501466"/>
          </a:xfrm>
          <a:prstGeom prst="ellipse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2E3C909-0837-B086-FED0-6A521439B910}"/>
              </a:ext>
            </a:extLst>
          </p:cNvPr>
          <p:cNvSpPr txBox="1"/>
          <p:nvPr/>
        </p:nvSpPr>
        <p:spPr>
          <a:xfrm>
            <a:off x="5642407" y="3845477"/>
            <a:ext cx="257195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50" b="1" dirty="0" err="1"/>
              <a:t>Changes</a:t>
            </a:r>
            <a:r>
              <a:rPr lang="de-DE" sz="1050" b="1" dirty="0"/>
              <a:t> </a:t>
            </a:r>
            <a:r>
              <a:rPr lang="de-DE" sz="1050" b="1" dirty="0" err="1"/>
              <a:t>here</a:t>
            </a:r>
            <a:r>
              <a:rPr lang="de-DE" sz="1050" b="1" dirty="0"/>
              <a:t> </a:t>
            </a:r>
            <a:r>
              <a:rPr lang="de-DE" sz="1050" b="1" dirty="0" err="1"/>
              <a:t>made</a:t>
            </a:r>
            <a:r>
              <a:rPr lang="de-DE" sz="1050" b="1" dirty="0"/>
              <a:t> in </a:t>
            </a:r>
            <a:r>
              <a:rPr lang="de-DE" sz="1050" b="1" dirty="0" err="1"/>
              <a:t>isolation</a:t>
            </a:r>
            <a:r>
              <a:rPr lang="de-DE" sz="1050" b="1" dirty="0"/>
              <a:t> (also </a:t>
            </a:r>
            <a:r>
              <a:rPr lang="de-DE" sz="1050" b="1" dirty="0" err="1"/>
              <a:t>from</a:t>
            </a:r>
            <a:r>
              <a:rPr lang="de-DE" sz="1050" b="1" dirty="0"/>
              <a:t> </a:t>
            </a:r>
            <a:r>
              <a:rPr lang="de-DE" sz="1050" b="1" dirty="0" err="1"/>
              <a:t>each</a:t>
            </a:r>
            <a:r>
              <a:rPr lang="de-DE" sz="1050" b="1" dirty="0"/>
              <a:t> </a:t>
            </a:r>
            <a:r>
              <a:rPr lang="de-DE" sz="1050" b="1" dirty="0" err="1"/>
              <a:t>other</a:t>
            </a:r>
            <a:r>
              <a:rPr lang="de-DE" sz="1050" b="1" dirty="0"/>
              <a:t>)</a:t>
            </a:r>
            <a:endParaRPr lang="en-GB" sz="1200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B4D2E822-0D78-BC3C-5FAD-CF21EE68E030}"/>
              </a:ext>
            </a:extLst>
          </p:cNvPr>
          <p:cNvSpPr/>
          <p:nvPr/>
        </p:nvSpPr>
        <p:spPr>
          <a:xfrm>
            <a:off x="4153920" y="4036378"/>
            <a:ext cx="1500120" cy="501466"/>
          </a:xfrm>
          <a:prstGeom prst="ellipse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932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657AF3-95A5-B95B-8336-3D32E8D84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000" dirty="0" err="1"/>
              <a:t>Semantic</a:t>
            </a:r>
            <a:r>
              <a:rPr lang="de-DE" sz="2000" dirty="0"/>
              <a:t> </a:t>
            </a:r>
            <a:r>
              <a:rPr lang="de-DE" sz="2000" dirty="0" err="1"/>
              <a:t>versioning</a:t>
            </a:r>
            <a:r>
              <a:rPr lang="de-DE" sz="2000" dirty="0"/>
              <a:t> and Tags</a:t>
            </a:r>
            <a:endParaRPr lang="en-GB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1A9CE0A-ED8E-3E9B-D532-D5509CCA9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8B1F0A3-2833-1E0B-36B0-9F6114ECD26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1130133"/>
            <a:ext cx="8064250" cy="3539761"/>
          </a:xfrm>
        </p:spPr>
        <p:txBody>
          <a:bodyPr/>
          <a:lstStyle/>
          <a:p>
            <a:r>
              <a:rPr lang="de-DE" dirty="0"/>
              <a:t>Tags </a:t>
            </a:r>
            <a:r>
              <a:rPr lang="de-DE" dirty="0" err="1"/>
              <a:t>help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mark</a:t>
            </a:r>
            <a:r>
              <a:rPr lang="de-DE" dirty="0"/>
              <a:t> important </a:t>
            </a:r>
            <a:r>
              <a:rPr lang="de-DE" dirty="0" err="1"/>
              <a:t>milestones</a:t>
            </a:r>
            <a:r>
              <a:rPr lang="de-DE" dirty="0"/>
              <a:t>, such as </a:t>
            </a:r>
            <a:r>
              <a:rPr lang="de-DE" dirty="0" err="1"/>
              <a:t>releases</a:t>
            </a:r>
            <a:r>
              <a:rPr lang="de-DE" dirty="0"/>
              <a:t>.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scheme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semantic</a:t>
            </a:r>
            <a:r>
              <a:rPr lang="de-DE" dirty="0"/>
              <a:t> </a:t>
            </a:r>
            <a:r>
              <a:rPr lang="de-DE" dirty="0" err="1"/>
              <a:t>versioning</a:t>
            </a:r>
            <a:r>
              <a:rPr lang="de-DE" dirty="0"/>
              <a:t>:</a:t>
            </a:r>
          </a:p>
          <a:p>
            <a:endParaRPr lang="de-DE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400" dirty="0"/>
              <a:t>v1.0.0 for the </a:t>
            </a:r>
            <a:r>
              <a:rPr lang="de-DE" sz="1400" dirty="0" err="1"/>
              <a:t>first</a:t>
            </a:r>
            <a:r>
              <a:rPr lang="de-DE" sz="1400" dirty="0"/>
              <a:t> </a:t>
            </a:r>
            <a:r>
              <a:rPr lang="de-DE" sz="1400" dirty="0" err="1"/>
              <a:t>stable</a:t>
            </a:r>
            <a:r>
              <a:rPr lang="de-DE" sz="1400" dirty="0"/>
              <a:t> release,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400" dirty="0"/>
              <a:t>v1.1.0 for a </a:t>
            </a:r>
            <a:r>
              <a:rPr lang="de-DE" sz="1400" dirty="0" err="1"/>
              <a:t>backward-compatible</a:t>
            </a:r>
            <a:r>
              <a:rPr lang="de-DE" sz="1400" dirty="0"/>
              <a:t> feature release,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400" dirty="0"/>
              <a:t>v1.1.1 for a </a:t>
            </a:r>
            <a:r>
              <a:rPr lang="de-DE" sz="1400" dirty="0" err="1"/>
              <a:t>backward-compatible</a:t>
            </a:r>
            <a:r>
              <a:rPr lang="de-DE" sz="1400" dirty="0"/>
              <a:t> </a:t>
            </a:r>
            <a:r>
              <a:rPr lang="de-DE" sz="1400" dirty="0" err="1"/>
              <a:t>bug</a:t>
            </a:r>
            <a:r>
              <a:rPr lang="de-DE" sz="1400" dirty="0"/>
              <a:t> fix.</a:t>
            </a:r>
          </a:p>
          <a:p>
            <a:endParaRPr lang="en-GB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177863C-BDB6-1AB7-36AD-0B0A30C18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116" y="3070680"/>
            <a:ext cx="6553768" cy="207282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C376B041-4D6A-704B-3A35-BFAF27C463FE}"/>
              </a:ext>
            </a:extLst>
          </p:cNvPr>
          <p:cNvSpPr txBox="1"/>
          <p:nvPr/>
        </p:nvSpPr>
        <p:spPr>
          <a:xfrm>
            <a:off x="2575560" y="290001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/>
              <a:t>v1.0.0</a:t>
            </a:r>
            <a:endParaRPr lang="en-GB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92E5C59-589B-50E7-BF0C-A4E730980E8E}"/>
              </a:ext>
            </a:extLst>
          </p:cNvPr>
          <p:cNvSpPr txBox="1"/>
          <p:nvPr/>
        </p:nvSpPr>
        <p:spPr>
          <a:xfrm>
            <a:off x="5167222" y="2912652"/>
            <a:ext cx="8922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/>
              <a:t>v1.1.0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DD55399-426F-4A05-8319-54A236B3D32C}"/>
              </a:ext>
            </a:extLst>
          </p:cNvPr>
          <p:cNvSpPr txBox="1"/>
          <p:nvPr/>
        </p:nvSpPr>
        <p:spPr>
          <a:xfrm>
            <a:off x="6463053" y="2925290"/>
            <a:ext cx="8922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/>
              <a:t>v1.1.1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1171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6B7148-1350-2727-295E-9403315AF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 </a:t>
            </a:r>
            <a:r>
              <a:rPr lang="de-DE" dirty="0" err="1"/>
              <a:t>useful</a:t>
            </a:r>
            <a:r>
              <a:rPr lang="de-DE" dirty="0"/>
              <a:t>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command</a:t>
            </a:r>
            <a:r>
              <a:rPr lang="de-DE" dirty="0"/>
              <a:t> </a:t>
            </a:r>
            <a:r>
              <a:rPr lang="de-DE" dirty="0" err="1"/>
              <a:t>set</a:t>
            </a:r>
            <a:br>
              <a:rPr lang="de-DE" dirty="0"/>
            </a:br>
            <a:endParaRPr lang="en-GB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AE79560-1FDB-C5A4-96DC-5D3D024C06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1292225"/>
            <a:ext cx="8064250" cy="3263638"/>
          </a:xfrm>
        </p:spPr>
        <p:txBody>
          <a:bodyPr/>
          <a:lstStyle/>
          <a:p>
            <a:r>
              <a:rPr lang="de-DE" dirty="0"/>
              <a:t>For a </a:t>
            </a:r>
            <a:r>
              <a:rPr lang="de-DE" dirty="0" err="1"/>
              <a:t>typical</a:t>
            </a:r>
            <a:r>
              <a:rPr lang="de-DE" dirty="0"/>
              <a:t> </a:t>
            </a:r>
            <a:r>
              <a:rPr lang="de-DE" dirty="0" err="1"/>
              <a:t>documentation</a:t>
            </a:r>
            <a:r>
              <a:rPr lang="de-DE" dirty="0"/>
              <a:t> change:</a:t>
            </a:r>
            <a:endParaRPr lang="de-DE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dirty="0" err="1"/>
              <a:t>git</a:t>
            </a:r>
            <a:r>
              <a:rPr lang="de-DE" sz="1400" dirty="0"/>
              <a:t> </a:t>
            </a:r>
            <a:r>
              <a:rPr lang="de-DE" sz="1400" dirty="0" err="1"/>
              <a:t>status</a:t>
            </a:r>
            <a:endParaRPr lang="de-DE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dirty="0" err="1"/>
              <a:t>git</a:t>
            </a:r>
            <a:r>
              <a:rPr lang="de-DE" sz="1400" dirty="0"/>
              <a:t> switch -c improve-module2-docs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dirty="0" err="1"/>
              <a:t>git</a:t>
            </a:r>
            <a:r>
              <a:rPr lang="de-DE" sz="1400" dirty="0"/>
              <a:t> </a:t>
            </a:r>
            <a:r>
              <a:rPr lang="de-DE" sz="1400" dirty="0" err="1"/>
              <a:t>add</a:t>
            </a:r>
            <a:r>
              <a:rPr lang="de-DE" sz="1400" dirty="0"/>
              <a:t> </a:t>
            </a:r>
            <a:r>
              <a:rPr lang="de-DE" sz="1400" dirty="0" err="1"/>
              <a:t>docs</a:t>
            </a:r>
            <a:r>
              <a:rPr lang="de-DE" sz="1400" dirty="0"/>
              <a:t>/module2-git_and_github_for_version_control/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dirty="0" err="1"/>
              <a:t>git</a:t>
            </a:r>
            <a:r>
              <a:rPr lang="de-DE" sz="1400" dirty="0"/>
              <a:t> </a:t>
            </a:r>
            <a:r>
              <a:rPr lang="de-DE" sz="1400" dirty="0" err="1"/>
              <a:t>commit</a:t>
            </a:r>
            <a:r>
              <a:rPr lang="de-DE" sz="1400" dirty="0"/>
              <a:t> -m „YOUR USEFUL COMMIT MESSAGE"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dirty="0" err="1"/>
              <a:t>git</a:t>
            </a:r>
            <a:r>
              <a:rPr lang="de-DE" sz="1400" dirty="0"/>
              <a:t> push -u </a:t>
            </a:r>
            <a:r>
              <a:rPr lang="de-DE" sz="1400" dirty="0" err="1"/>
              <a:t>origin</a:t>
            </a:r>
            <a:r>
              <a:rPr lang="de-DE" sz="1400" dirty="0"/>
              <a:t> improve-module2-docs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Also: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dirty="0" err="1"/>
              <a:t>git</a:t>
            </a:r>
            <a:r>
              <a:rPr lang="de-DE" sz="1400" dirty="0"/>
              <a:t> log, </a:t>
            </a:r>
            <a:r>
              <a:rPr lang="de-DE" sz="1400" dirty="0" err="1"/>
              <a:t>git</a:t>
            </a:r>
            <a:r>
              <a:rPr lang="de-DE" sz="1400" dirty="0"/>
              <a:t> log –</a:t>
            </a:r>
            <a:r>
              <a:rPr lang="de-DE" sz="1400" dirty="0" err="1"/>
              <a:t>oneline</a:t>
            </a:r>
            <a:r>
              <a:rPr lang="de-DE" sz="1400" dirty="0"/>
              <a:t>, </a:t>
            </a:r>
            <a:r>
              <a:rPr lang="de-DE" sz="1400" dirty="0" err="1"/>
              <a:t>git</a:t>
            </a:r>
            <a:r>
              <a:rPr lang="de-DE" sz="1400" dirty="0"/>
              <a:t> </a:t>
            </a:r>
            <a:r>
              <a:rPr lang="de-DE" sz="1400" dirty="0" err="1"/>
              <a:t>branch</a:t>
            </a:r>
            <a:r>
              <a:rPr lang="de-DE" sz="1400" dirty="0"/>
              <a:t>, </a:t>
            </a:r>
            <a:r>
              <a:rPr lang="de-DE" sz="1400" dirty="0" err="1"/>
              <a:t>git</a:t>
            </a:r>
            <a:r>
              <a:rPr lang="de-DE" sz="1400" dirty="0"/>
              <a:t> </a:t>
            </a:r>
            <a:r>
              <a:rPr lang="de-DE" sz="1400" dirty="0" err="1"/>
              <a:t>show</a:t>
            </a:r>
            <a:r>
              <a:rPr lang="de-DE" sz="1400" dirty="0"/>
              <a:t>, </a:t>
            </a:r>
            <a:r>
              <a:rPr lang="de-DE" sz="1400" dirty="0" err="1"/>
              <a:t>git</a:t>
            </a:r>
            <a:r>
              <a:rPr lang="de-DE" sz="1400" dirty="0"/>
              <a:t> merge </a:t>
            </a:r>
            <a:endParaRPr lang="en-GB" sz="1400" dirty="0"/>
          </a:p>
          <a:p>
            <a:pPr>
              <a:lnSpc>
                <a:spcPct val="150000"/>
              </a:lnSpc>
            </a:pPr>
            <a:endParaRPr lang="de-DE" sz="1400" dirty="0"/>
          </a:p>
          <a:p>
            <a:endParaRPr lang="de-DE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5432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5F88D-0560-C1B7-0F91-C32355DD6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workflow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839CA36-9A17-B6D7-D1E0-A2C1A2461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36" y="1979754"/>
            <a:ext cx="6606784" cy="78780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294E405-D0FC-7977-D955-633F5530359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3000"/>
          </a:blip>
          <a:stretch>
            <a:fillRect/>
          </a:stretch>
        </p:blipFill>
        <p:spPr>
          <a:xfrm>
            <a:off x="5746630" y="2843177"/>
            <a:ext cx="3345470" cy="777307"/>
          </a:xfrm>
          <a:prstGeom prst="rect">
            <a:avLst/>
          </a:prstGeom>
        </p:spPr>
      </p:pic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6ADB8260-EFD7-F191-9988-0733B3EE3359}"/>
              </a:ext>
            </a:extLst>
          </p:cNvPr>
          <p:cNvCxnSpPr/>
          <p:nvPr/>
        </p:nvCxnSpPr>
        <p:spPr>
          <a:xfrm>
            <a:off x="6554640" y="2658655"/>
            <a:ext cx="0" cy="297180"/>
          </a:xfrm>
          <a:prstGeom prst="straightConnector1">
            <a:avLst/>
          </a:prstGeom>
          <a:ln w="15875">
            <a:solidFill>
              <a:schemeClr val="tx1">
                <a:alpha val="2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F0A8DAC5-B3D0-B816-00FC-2EF381EDA3C0}"/>
              </a:ext>
            </a:extLst>
          </p:cNvPr>
          <p:cNvSpPr txBox="1"/>
          <p:nvPr/>
        </p:nvSpPr>
        <p:spPr>
          <a:xfrm>
            <a:off x="587160" y="1603604"/>
            <a:ext cx="1319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Edit the code on </a:t>
            </a:r>
            <a:r>
              <a:rPr lang="de-DE" sz="1200" dirty="0" err="1"/>
              <a:t>your</a:t>
            </a:r>
            <a:r>
              <a:rPr lang="de-DE" sz="1200" dirty="0"/>
              <a:t> PC</a:t>
            </a:r>
            <a:endParaRPr lang="en-GB" sz="14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61A46F5-2215-1904-DBD8-0445BF76ED95}"/>
              </a:ext>
            </a:extLst>
          </p:cNvPr>
          <p:cNvSpPr txBox="1"/>
          <p:nvPr/>
        </p:nvSpPr>
        <p:spPr>
          <a:xfrm>
            <a:off x="2009188" y="2691174"/>
            <a:ext cx="1447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/>
              <a:t>Overview</a:t>
            </a:r>
            <a:r>
              <a:rPr lang="de-DE" sz="1200" dirty="0"/>
              <a:t> of all </a:t>
            </a:r>
            <a:r>
              <a:rPr lang="de-DE" sz="1200" dirty="0" err="1"/>
              <a:t>changed</a:t>
            </a:r>
            <a:r>
              <a:rPr lang="de-DE" sz="1200" dirty="0"/>
              <a:t> </a:t>
            </a:r>
            <a:r>
              <a:rPr lang="de-DE" sz="1200" dirty="0" err="1"/>
              <a:t>files</a:t>
            </a:r>
            <a:r>
              <a:rPr lang="de-DE" sz="1200" dirty="0"/>
              <a:t>, the </a:t>
            </a:r>
            <a:r>
              <a:rPr lang="de-DE" sz="1200" dirty="0" err="1"/>
              <a:t>branch</a:t>
            </a:r>
            <a:r>
              <a:rPr lang="de-DE" sz="1200" dirty="0"/>
              <a:t> </a:t>
            </a:r>
            <a:r>
              <a:rPr lang="de-DE" sz="1200" dirty="0" err="1"/>
              <a:t>you</a:t>
            </a:r>
            <a:r>
              <a:rPr lang="de-DE" sz="1200" dirty="0"/>
              <a:t> </a:t>
            </a:r>
            <a:r>
              <a:rPr lang="de-DE" sz="1200" dirty="0" err="1"/>
              <a:t>are</a:t>
            </a:r>
            <a:r>
              <a:rPr lang="de-DE" sz="1200" dirty="0"/>
              <a:t> on and additional important </a:t>
            </a:r>
            <a:r>
              <a:rPr lang="de-DE" sz="1200" dirty="0" err="1"/>
              <a:t>info</a:t>
            </a:r>
            <a:endParaRPr lang="en-GB" sz="14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49DC7E5-97D7-ABE4-58C0-D21A8A9375E1}"/>
              </a:ext>
            </a:extLst>
          </p:cNvPr>
          <p:cNvSpPr txBox="1"/>
          <p:nvPr/>
        </p:nvSpPr>
        <p:spPr>
          <a:xfrm>
            <a:off x="3288200" y="1482749"/>
            <a:ext cx="1447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Add </a:t>
            </a:r>
            <a:r>
              <a:rPr lang="de-DE" sz="1200" dirty="0" err="1"/>
              <a:t>changed</a:t>
            </a:r>
            <a:r>
              <a:rPr lang="de-DE" sz="1200" dirty="0"/>
              <a:t> </a:t>
            </a:r>
            <a:r>
              <a:rPr lang="de-DE" sz="1200" dirty="0" err="1"/>
              <a:t>files</a:t>
            </a:r>
            <a:r>
              <a:rPr lang="de-DE" sz="1200" dirty="0"/>
              <a:t> to </a:t>
            </a:r>
            <a:r>
              <a:rPr lang="de-DE" sz="1200" dirty="0" err="1"/>
              <a:t>staging</a:t>
            </a:r>
            <a:r>
              <a:rPr lang="de-DE" sz="1200" dirty="0"/>
              <a:t> area</a:t>
            </a:r>
            <a:endParaRPr lang="en-GB" sz="140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B92EFE3-7539-E999-0F88-EBA71E15D447}"/>
              </a:ext>
            </a:extLst>
          </p:cNvPr>
          <p:cNvSpPr txBox="1"/>
          <p:nvPr/>
        </p:nvSpPr>
        <p:spPr>
          <a:xfrm>
            <a:off x="4588681" y="2628499"/>
            <a:ext cx="1447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Create permanent </a:t>
            </a:r>
            <a:r>
              <a:rPr lang="de-DE" sz="1200" dirty="0" err="1"/>
              <a:t>snapshot</a:t>
            </a:r>
            <a:r>
              <a:rPr lang="de-DE" sz="1200" dirty="0"/>
              <a:t> of </a:t>
            </a:r>
            <a:r>
              <a:rPr lang="de-DE" sz="1200" dirty="0" err="1"/>
              <a:t>staging</a:t>
            </a:r>
            <a:r>
              <a:rPr lang="de-DE" sz="1200" dirty="0"/>
              <a:t> area at </a:t>
            </a:r>
            <a:r>
              <a:rPr lang="de-DE" sz="1200" dirty="0" err="1"/>
              <a:t>this</a:t>
            </a:r>
            <a:r>
              <a:rPr lang="de-DE" sz="1200" dirty="0"/>
              <a:t> </a:t>
            </a:r>
            <a:r>
              <a:rPr lang="de-DE" sz="1200" dirty="0" err="1"/>
              <a:t>specific</a:t>
            </a:r>
            <a:r>
              <a:rPr lang="de-DE" sz="1200" dirty="0"/>
              <a:t> time. Records the change, who </a:t>
            </a:r>
            <a:r>
              <a:rPr lang="de-DE" sz="1200" dirty="0" err="1"/>
              <a:t>made</a:t>
            </a:r>
            <a:r>
              <a:rPr lang="de-DE" sz="1200" dirty="0"/>
              <a:t> it and a change </a:t>
            </a:r>
            <a:r>
              <a:rPr lang="de-DE" sz="1200" dirty="0" err="1"/>
              <a:t>message</a:t>
            </a:r>
            <a:endParaRPr lang="en-GB" sz="140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88AFBAA-383B-86BE-A401-C780F6243189}"/>
              </a:ext>
            </a:extLst>
          </p:cNvPr>
          <p:cNvSpPr txBox="1"/>
          <p:nvPr/>
        </p:nvSpPr>
        <p:spPr>
          <a:xfrm>
            <a:off x="5830740" y="1635325"/>
            <a:ext cx="1447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/>
              <a:t>Uploads all </a:t>
            </a:r>
            <a:r>
              <a:rPr lang="de-DE" sz="1200" dirty="0" err="1"/>
              <a:t>local</a:t>
            </a:r>
            <a:r>
              <a:rPr lang="de-DE" sz="1200" dirty="0"/>
              <a:t> </a:t>
            </a:r>
            <a:r>
              <a:rPr lang="de-DE" sz="1200" dirty="0" err="1"/>
              <a:t>branch</a:t>
            </a:r>
            <a:r>
              <a:rPr lang="de-DE" sz="1200" dirty="0"/>
              <a:t> </a:t>
            </a:r>
            <a:r>
              <a:rPr lang="de-DE" sz="1200" dirty="0" err="1"/>
              <a:t>commits</a:t>
            </a:r>
            <a:endParaRPr lang="en-GB" sz="1200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DD51781-CA15-7884-AE59-485F37AFB923}"/>
              </a:ext>
            </a:extLst>
          </p:cNvPr>
          <p:cNvSpPr/>
          <p:nvPr/>
        </p:nvSpPr>
        <p:spPr>
          <a:xfrm>
            <a:off x="5746630" y="1603604"/>
            <a:ext cx="1447313" cy="1024895"/>
          </a:xfrm>
          <a:prstGeom prst="rect">
            <a:avLst/>
          </a:prstGeom>
          <a:solidFill>
            <a:schemeClr val="bg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5243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9631A6-E17A-1643-1E96-6E766605A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Best practices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6504AF3-E6F6-B566-E74A-7D3F518819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50" y="1623060"/>
            <a:ext cx="8064250" cy="3074941"/>
          </a:xfrm>
        </p:spPr>
        <p:txBody>
          <a:bodyPr/>
          <a:lstStyle/>
          <a:p>
            <a:r>
              <a:rPr lang="en-GB" dirty="0"/>
              <a:t>Do not commit everything once at once</a:t>
            </a:r>
          </a:p>
          <a:p>
            <a:endParaRPr lang="en-GB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GB" sz="1400" dirty="0"/>
              <a:t>Smaller commits with clear commit message much more useful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GB" sz="1400" dirty="0"/>
              <a:t>Keep commits focused on one idea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GB" sz="1400" dirty="0"/>
              <a:t>Commit regularly (at least at the end of each day)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GB" sz="1400" dirty="0"/>
              <a:t>Use clear commit messages! (You will thank your past self for it)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8233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65B8ED-ED57-1637-CE6A-46924BFFE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 steps in Git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0A8C32C-DDB5-B7E9-80BD-058E0D86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E8BEB26-FF36-14A7-7D85-8D924BBA7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1F8D34-3EE8-CC2E-0C14-B371A4538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11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1D84B4D-1142-5867-B937-3CC6B72FF61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On windows download it from the software portal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Create new folder for our git repository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Navigate to this folder in the command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Execute “git </a:t>
            </a:r>
            <a:r>
              <a:rPr lang="en-GB" dirty="0" err="1"/>
              <a:t>init</a:t>
            </a:r>
            <a:r>
              <a:rPr lang="en-GB" dirty="0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Create a new file (E.g., .txt or .docx) in the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Execute “git status”</a:t>
            </a:r>
          </a:p>
          <a:p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71714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BFA6CD-330F-0CEA-BC46-E56495108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Important files/folders?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B704389-C2B6-AF9D-3AC0-2950C8C7247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/>
              <a:t>.git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/>
              <a:t>.</a:t>
            </a:r>
            <a:r>
              <a:rPr lang="en-GB" i="1" dirty="0" err="1"/>
              <a:t>gitconfig</a:t>
            </a:r>
            <a:r>
              <a:rPr lang="en-GB" i="1" dirty="0"/>
              <a:t> </a:t>
            </a:r>
            <a:r>
              <a:rPr lang="en-GB" dirty="0"/>
              <a:t>Define useful settings like this: </a:t>
            </a:r>
          </a:p>
          <a:p>
            <a:endParaRPr lang="en-GB" sz="1400" i="1" dirty="0"/>
          </a:p>
          <a:p>
            <a:pPr marL="645750" lvl="1" indent="-285750">
              <a:buFont typeface="Wingdings" panose="05000000000000000000" pitchFamily="2" charset="2"/>
              <a:buChar char="Ø"/>
            </a:pPr>
            <a:r>
              <a:rPr lang="de-DE" sz="1400" dirty="0" err="1"/>
              <a:t>git</a:t>
            </a:r>
            <a:r>
              <a:rPr lang="de-DE" sz="1400" dirty="0"/>
              <a:t> </a:t>
            </a:r>
            <a:r>
              <a:rPr lang="de-DE" sz="1400" dirty="0" err="1"/>
              <a:t>config</a:t>
            </a:r>
            <a:r>
              <a:rPr lang="de-DE" sz="1400" dirty="0"/>
              <a:t> --global user.name "</a:t>
            </a:r>
            <a:r>
              <a:rPr lang="de-DE" sz="1400" dirty="0" err="1"/>
              <a:t>Your</a:t>
            </a:r>
            <a:r>
              <a:rPr lang="de-DE" sz="1400" dirty="0"/>
              <a:t> Name"</a:t>
            </a:r>
          </a:p>
          <a:p>
            <a:pPr marL="645750" lvl="1" indent="-285750">
              <a:buFont typeface="Wingdings" panose="05000000000000000000" pitchFamily="2" charset="2"/>
              <a:buChar char="Ø"/>
            </a:pPr>
            <a:r>
              <a:rPr lang="de-DE" sz="1400" dirty="0" err="1"/>
              <a:t>git</a:t>
            </a:r>
            <a:r>
              <a:rPr lang="de-DE" sz="1400" dirty="0"/>
              <a:t> </a:t>
            </a:r>
            <a:r>
              <a:rPr lang="de-DE" sz="1400" dirty="0" err="1"/>
              <a:t>config</a:t>
            </a:r>
            <a:r>
              <a:rPr lang="de-DE" sz="1400" dirty="0"/>
              <a:t> --global </a:t>
            </a:r>
            <a:r>
              <a:rPr lang="de-DE" sz="1400" dirty="0" err="1"/>
              <a:t>user.email</a:t>
            </a:r>
            <a:r>
              <a:rPr lang="de-DE" sz="1400" dirty="0"/>
              <a:t> "you@example.com"</a:t>
            </a:r>
          </a:p>
          <a:p>
            <a:pPr marL="645750" lvl="1" indent="-285750">
              <a:buFont typeface="Wingdings" panose="05000000000000000000" pitchFamily="2" charset="2"/>
              <a:buChar char="Ø"/>
            </a:pPr>
            <a:r>
              <a:rPr lang="de-DE" sz="1400" dirty="0" err="1"/>
              <a:t>git</a:t>
            </a:r>
            <a:r>
              <a:rPr lang="de-DE" sz="1400" dirty="0"/>
              <a:t> </a:t>
            </a:r>
            <a:r>
              <a:rPr lang="de-DE" sz="1400" dirty="0" err="1"/>
              <a:t>config</a:t>
            </a:r>
            <a:r>
              <a:rPr lang="de-DE" sz="1400" dirty="0"/>
              <a:t> --global </a:t>
            </a:r>
            <a:r>
              <a:rPr lang="de-DE" sz="1400" dirty="0" err="1"/>
              <a:t>init.defaultBranch</a:t>
            </a:r>
            <a:r>
              <a:rPr lang="de-DE" sz="1400" dirty="0"/>
              <a:t> </a:t>
            </a:r>
            <a:r>
              <a:rPr lang="de-DE" sz="1400" dirty="0" err="1"/>
              <a:t>main</a:t>
            </a:r>
            <a:endParaRPr lang="de-DE" sz="1400" dirty="0"/>
          </a:p>
          <a:p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3775784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2E905-57BF-6771-BB1C-635DE9AD8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Cheat sheet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457B110-2287-BCCB-72E5-7DAC65E13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10.02.2017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8336F1D-21D7-F175-2091-F8D1305C6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Thema der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C2F0FB7-5F3A-D3D2-771A-8BFF5028E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ED74F-9508-4ED9-B334-15F84E4ED6ED}" type="slidenum">
              <a:rPr lang="de-DE" smtClean="0"/>
              <a:t>13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41F10BE-1A5E-87CF-EB5A-F83F5C49AE0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https://git-scm.com/cheat-sheet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3"/>
              </a:rPr>
              <a:t>https://github.com/hadenlabs/cheatsheet/blob/main/git-switch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Learning branching and the most important commands playfully: </a:t>
            </a:r>
            <a:br>
              <a:rPr lang="en-GB" dirty="0"/>
            </a:br>
            <a:r>
              <a:rPr lang="de-DE" dirty="0">
                <a:hlinkClick r:id="rId4" tooltip="https://learngitbranching.js.org/"/>
              </a:rPr>
              <a:t>https://learngitbranching.js.org/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8440308"/>
      </p:ext>
    </p:extLst>
  </p:cSld>
  <p:clrMapOvr>
    <a:masterClrMapping/>
  </p:clrMapOvr>
</p:sld>
</file>

<file path=ppt/theme/theme1.xml><?xml version="1.0" encoding="utf-8"?>
<a:theme xmlns:a="http://schemas.openxmlformats.org/drawingml/2006/main" name="BAM_16zu9_master">
  <a:themeElements>
    <a:clrScheme name="BAM">
      <a:dk1>
        <a:srgbClr val="000000"/>
      </a:dk1>
      <a:lt1>
        <a:sysClr val="window" lastClr="FFFFFF"/>
      </a:lt1>
      <a:dk2>
        <a:srgbClr val="002832"/>
      </a:dk2>
      <a:lt2>
        <a:srgbClr val="FFFFFF"/>
      </a:lt2>
      <a:accent1>
        <a:srgbClr val="D2001E"/>
      </a:accent1>
      <a:accent2>
        <a:srgbClr val="501919"/>
      </a:accent2>
      <a:accent3>
        <a:srgbClr val="00AFF0"/>
      </a:accent3>
      <a:accent4>
        <a:srgbClr val="00556E"/>
      </a:accent4>
      <a:accent5>
        <a:srgbClr val="8CB40F"/>
      </a:accent5>
      <a:accent6>
        <a:srgbClr val="FFFF00"/>
      </a:accent6>
      <a:hlink>
        <a:srgbClr val="002832"/>
      </a:hlink>
      <a:folHlink>
        <a:srgbClr val="002832"/>
      </a:folHlink>
    </a:clrScheme>
    <a:fontScheme name="BAM Tex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lnSpc>
            <a:spcPts val="2100"/>
          </a:lnSpc>
          <a:defRPr sz="1600" dirty="0"/>
        </a:defPPr>
      </a:lstStyle>
    </a:txDef>
  </a:objectDefaults>
  <a:extraClrSchemeLst>
    <a:extraClrScheme>
      <a:clrScheme name="BAM Farben">
        <a:dk1>
          <a:sysClr val="windowText" lastClr="000000"/>
        </a:dk1>
        <a:lt1>
          <a:sysClr val="window" lastClr="FFFFFF"/>
        </a:lt1>
        <a:dk2>
          <a:srgbClr val="002832"/>
        </a:dk2>
        <a:lt2>
          <a:srgbClr val="FFFFFF"/>
        </a:lt2>
        <a:accent1>
          <a:srgbClr val="D2001E"/>
        </a:accent1>
        <a:accent2>
          <a:srgbClr val="501919"/>
        </a:accent2>
        <a:accent3>
          <a:srgbClr val="00AFF0"/>
        </a:accent3>
        <a:accent4>
          <a:srgbClr val="00556E"/>
        </a:accent4>
        <a:accent5>
          <a:srgbClr val="8CB40F"/>
        </a:accent5>
        <a:accent6>
          <a:srgbClr val="FFFF00"/>
        </a:accent6>
        <a:hlink>
          <a:srgbClr val="002832"/>
        </a:hlink>
        <a:folHlink>
          <a:srgbClr val="002832"/>
        </a:folHlink>
      </a:clrScheme>
    </a:extraClrScheme>
  </a:extraClrSchemeLst>
  <a:extLst>
    <a:ext uri="{05A4C25C-085E-4340-85A3-A5531E510DB2}">
      <thm15:themeFamily xmlns:thm15="http://schemas.microsoft.com/office/thememl/2012/main" name="BAM_16zu9_master" id="{C9821BEF-2ACB-2B4B-8DCE-EE3870480A58}" vid="{C73E6368-F41D-804E-8BA9-C0FF5A538FBE}"/>
    </a:ext>
  </a:extLst>
</a:theme>
</file>

<file path=ppt/theme/theme2.xml><?xml version="1.0" encoding="utf-8"?>
<a:theme xmlns:a="http://schemas.openxmlformats.org/drawingml/2006/main" name="BAM - Master">
  <a:themeElements>
    <a:clrScheme name="BAM">
      <a:dk1>
        <a:srgbClr val="002832"/>
      </a:dk1>
      <a:lt1>
        <a:sysClr val="window" lastClr="FFFFFF"/>
      </a:lt1>
      <a:dk2>
        <a:srgbClr val="002832"/>
      </a:dk2>
      <a:lt2>
        <a:srgbClr val="FFFFFF"/>
      </a:lt2>
      <a:accent1>
        <a:srgbClr val="D2001E"/>
      </a:accent1>
      <a:accent2>
        <a:srgbClr val="501919"/>
      </a:accent2>
      <a:accent3>
        <a:srgbClr val="00AFF0"/>
      </a:accent3>
      <a:accent4>
        <a:srgbClr val="00556E"/>
      </a:accent4>
      <a:accent5>
        <a:srgbClr val="8CB40F"/>
      </a:accent5>
      <a:accent6>
        <a:srgbClr val="FFDC00"/>
      </a:accent6>
      <a:hlink>
        <a:srgbClr val="DC2328"/>
      </a:hlink>
      <a:folHlink>
        <a:srgbClr val="00556E"/>
      </a:folHlink>
    </a:clrScheme>
    <a:fontScheme name="BAM Tex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>
          <a:lnSpc>
            <a:spcPts val="2100"/>
          </a:lnSpc>
          <a:defRPr sz="1600" dirty="0"/>
        </a:defPPr>
      </a:lstStyle>
    </a:txDef>
  </a:objectDefaults>
  <a:extraClrSchemeLst>
    <a:extraClrScheme>
      <a:clrScheme name="BAM Farben">
        <a:dk1>
          <a:sysClr val="windowText" lastClr="000000"/>
        </a:dk1>
        <a:lt1>
          <a:sysClr val="window" lastClr="FFFFFF"/>
        </a:lt1>
        <a:dk2>
          <a:srgbClr val="002832"/>
        </a:dk2>
        <a:lt2>
          <a:srgbClr val="FFFFFF"/>
        </a:lt2>
        <a:accent1>
          <a:srgbClr val="D2001E"/>
        </a:accent1>
        <a:accent2>
          <a:srgbClr val="501919"/>
        </a:accent2>
        <a:accent3>
          <a:srgbClr val="00AFF0"/>
        </a:accent3>
        <a:accent4>
          <a:srgbClr val="00556E"/>
        </a:accent4>
        <a:accent5>
          <a:srgbClr val="8CB40F"/>
        </a:accent5>
        <a:accent6>
          <a:srgbClr val="FFDC00"/>
        </a:accent6>
        <a:hlink>
          <a:srgbClr val="002832"/>
        </a:hlink>
        <a:folHlink>
          <a:srgbClr val="002832"/>
        </a:folHlink>
      </a:clrScheme>
    </a:extraClrScheme>
  </a:extraClrScheme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BAM_16zu9</Template>
  <TotalTime>0</TotalTime>
  <Words>823</Words>
  <Application>Microsoft Office PowerPoint</Application>
  <PresentationFormat>Bildschirmpräsentation (16:9)</PresentationFormat>
  <Paragraphs>162</Paragraphs>
  <Slides>13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.AppleSystemUIFont</vt:lpstr>
      <vt:lpstr>Arial</vt:lpstr>
      <vt:lpstr>Calibri</vt:lpstr>
      <vt:lpstr>Verdana</vt:lpstr>
      <vt:lpstr>Wingdings</vt:lpstr>
      <vt:lpstr>BAM_16zu9_master</vt:lpstr>
      <vt:lpstr>Plan for today</vt:lpstr>
      <vt:lpstr>What is Version Control?</vt:lpstr>
      <vt:lpstr>Why is Version Control useful?</vt:lpstr>
      <vt:lpstr>Version Control in coding</vt:lpstr>
      <vt:lpstr>Git the vocabulary and visualization</vt:lpstr>
      <vt:lpstr>Branches are important</vt:lpstr>
      <vt:lpstr>Semantic versioning and Tags</vt:lpstr>
      <vt:lpstr>A useful first command set </vt:lpstr>
      <vt:lpstr>Common workflow</vt:lpstr>
      <vt:lpstr>Best practices</vt:lpstr>
      <vt:lpstr>First steps in Git</vt:lpstr>
      <vt:lpstr>Important files/folders?</vt:lpstr>
      <vt:lpstr>Cheat 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Müller, Simon</dc:creator>
  <cp:lastModifiedBy>Müller, Simon</cp:lastModifiedBy>
  <cp:revision>23</cp:revision>
  <dcterms:created xsi:type="dcterms:W3CDTF">2026-09-04T12:48:58Z</dcterms:created>
  <dcterms:modified xsi:type="dcterms:W3CDTF">2026-09-10T11:40:31Z</dcterms:modified>
  <cp:category>Präsentation</cp:category>
  <cp:contentStatus>2017-04-11</cp:contentStatus>
</cp:coreProperties>
</file>